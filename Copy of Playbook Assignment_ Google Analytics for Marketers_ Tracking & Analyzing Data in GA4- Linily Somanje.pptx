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10287000" cx="18288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Proxima Nova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Lato Light"/>
      <p:regular r:id="rId33"/>
      <p:bold r:id="rId34"/>
      <p:italic r:id="rId35"/>
      <p:boldItalic r:id="rId36"/>
    </p:embeddedFont>
    <p:embeddedFont>
      <p:font typeface="Montserrat Light"/>
      <p:regular r:id="rId37"/>
      <p:bold r:id="rId38"/>
      <p:italic r:id="rId39"/>
      <p:boldItalic r:id="rId40"/>
    </p:embeddedFont>
    <p:embeddedFont>
      <p:font typeface="Poppins SemiBold"/>
      <p:regular r:id="rId41"/>
      <p:bold r:id="rId42"/>
      <p:italic r:id="rId43"/>
      <p:boldItalic r:id="rId44"/>
    </p:embeddedFont>
    <p:embeddedFont>
      <p:font typeface="Oswal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75A181-BF2C-48E7-B9AD-BA316F58147E}">
  <a:tblStyle styleId="{0E75A181-BF2C-48E7-B9AD-BA316F5814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Light-boldItalic.fntdata"/><Relationship Id="rId20" Type="http://schemas.openxmlformats.org/officeDocument/2006/relationships/slide" Target="slides/slide13.xml"/><Relationship Id="rId42" Type="http://schemas.openxmlformats.org/officeDocument/2006/relationships/font" Target="fonts/PoppinsSemiBold-bold.fntdata"/><Relationship Id="rId41" Type="http://schemas.openxmlformats.org/officeDocument/2006/relationships/font" Target="fonts/PoppinsSemiBold-regular.fntdata"/><Relationship Id="rId22" Type="http://schemas.openxmlformats.org/officeDocument/2006/relationships/font" Target="fonts/Roboto-bold.fntdata"/><Relationship Id="rId44" Type="http://schemas.openxmlformats.org/officeDocument/2006/relationships/font" Target="fonts/PoppinsSemiBold-boldItalic.fntdata"/><Relationship Id="rId21" Type="http://schemas.openxmlformats.org/officeDocument/2006/relationships/font" Target="fonts/Roboto-regular.fntdata"/><Relationship Id="rId43" Type="http://schemas.openxmlformats.org/officeDocument/2006/relationships/font" Target="fonts/PoppinsSemiBold-italic.fntdata"/><Relationship Id="rId24" Type="http://schemas.openxmlformats.org/officeDocument/2006/relationships/font" Target="fonts/Roboto-boldItalic.fntdata"/><Relationship Id="rId46" Type="http://schemas.openxmlformats.org/officeDocument/2006/relationships/font" Target="fonts/Oswald-bold.fntdata"/><Relationship Id="rId23" Type="http://schemas.openxmlformats.org/officeDocument/2006/relationships/font" Target="fonts/Roboto-italic.fntdata"/><Relationship Id="rId45" Type="http://schemas.openxmlformats.org/officeDocument/2006/relationships/font" Target="fonts/Oswal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4.xml"/><Relationship Id="rId33" Type="http://schemas.openxmlformats.org/officeDocument/2006/relationships/font" Target="fonts/LatoLight-regular.fntdata"/><Relationship Id="rId10" Type="http://schemas.openxmlformats.org/officeDocument/2006/relationships/slide" Target="slides/slide3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6.xml"/><Relationship Id="rId35" Type="http://schemas.openxmlformats.org/officeDocument/2006/relationships/font" Target="fonts/LatoLight-italic.fntdata"/><Relationship Id="rId12" Type="http://schemas.openxmlformats.org/officeDocument/2006/relationships/slide" Target="slides/slide5.xml"/><Relationship Id="rId34" Type="http://schemas.openxmlformats.org/officeDocument/2006/relationships/font" Target="fonts/LatoLight-bold.fntdata"/><Relationship Id="rId15" Type="http://schemas.openxmlformats.org/officeDocument/2006/relationships/slide" Target="slides/slide8.xml"/><Relationship Id="rId37" Type="http://schemas.openxmlformats.org/officeDocument/2006/relationships/font" Target="fonts/MontserratLight-regular.fntdata"/><Relationship Id="rId14" Type="http://schemas.openxmlformats.org/officeDocument/2006/relationships/slide" Target="slides/slide7.xml"/><Relationship Id="rId36" Type="http://schemas.openxmlformats.org/officeDocument/2006/relationships/font" Target="fonts/LatoLight-boldItalic.fntdata"/><Relationship Id="rId17" Type="http://schemas.openxmlformats.org/officeDocument/2006/relationships/slide" Target="slides/slide10.xml"/><Relationship Id="rId39" Type="http://schemas.openxmlformats.org/officeDocument/2006/relationships/font" Target="fonts/MontserratLight-italic.fntdata"/><Relationship Id="rId16" Type="http://schemas.openxmlformats.org/officeDocument/2006/relationships/slide" Target="slides/slide9.xml"/><Relationship Id="rId38" Type="http://schemas.openxmlformats.org/officeDocument/2006/relationships/font" Target="fonts/MontserratLight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531b39da8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531b39da8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46ed4a8b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046ed4a8b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16216829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716216829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073a9ee04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073a9ee04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9073a9ee04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3e49ba429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3e49ba429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73e49ba429_1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936ece6e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936ece6e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2e936ece6e9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229349b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229349b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7229349b6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229349b6a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229349b6a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82" name="Google Shape;182;g37229349b6a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229349b6a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229349b6a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7229349b6a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229349b6a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229349b6a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7229349b6a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73e49ba429_1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73e49ba429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73e49ba429_1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260226d4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7260226d4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260226d49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7260226d49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1750">
        <p14:flip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ACKGROUND IMAGE" showMasterSp="0">
  <p:cSld name="FULL BACKGROUND IMAGE">
    <p:bg>
      <p:bgPr>
        <a:solidFill>
          <a:schemeClr val="accent6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1750">
        <p14:flip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DEFAULT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876300" y="571411"/>
            <a:ext cx="5448300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b="1" i="0" sz="4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6916400" y="9581325"/>
            <a:ext cx="1733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4"/>
          <p:cNvCxnSpPr/>
          <p:nvPr/>
        </p:nvCxnSpPr>
        <p:spPr>
          <a:xfrm>
            <a:off x="704850" y="685800"/>
            <a:ext cx="0" cy="102870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1750">
        <p14:flip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17" showMasterSp="0">
  <p:cSld name="DEVICES OPT-17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>
            <p:ph idx="2" type="pic"/>
          </p:nvPr>
        </p:nvSpPr>
        <p:spPr>
          <a:xfrm>
            <a:off x="7175000" y="5605200"/>
            <a:ext cx="3708000" cy="209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5"/>
          <p:cNvSpPr/>
          <p:nvPr>
            <p:ph idx="3" type="pic"/>
          </p:nvPr>
        </p:nvSpPr>
        <p:spPr>
          <a:xfrm>
            <a:off x="5688200" y="7758000"/>
            <a:ext cx="439200" cy="77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5"/>
          <p:cNvSpPr/>
          <p:nvPr>
            <p:ph idx="4" type="pic"/>
          </p:nvPr>
        </p:nvSpPr>
        <p:spPr>
          <a:xfrm>
            <a:off x="6354200" y="7110000"/>
            <a:ext cx="1069200" cy="141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5"/>
          <p:cNvSpPr/>
          <p:nvPr>
            <p:ph idx="5" type="pic"/>
          </p:nvPr>
        </p:nvSpPr>
        <p:spPr>
          <a:xfrm>
            <a:off x="10483400" y="6843600"/>
            <a:ext cx="2512800" cy="155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21" showMasterSp="0">
  <p:cSld name="DEVICES OPT-2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/>
          <p:nvPr>
            <p:ph idx="2" type="pic"/>
          </p:nvPr>
        </p:nvSpPr>
        <p:spPr>
          <a:xfrm>
            <a:off x="2710800" y="2178000"/>
            <a:ext cx="7664400" cy="433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18" showMasterSp="0">
  <p:cSld name="DEVICES OPT-1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>
            <p:ph idx="2" type="pic"/>
          </p:nvPr>
        </p:nvSpPr>
        <p:spPr>
          <a:xfrm>
            <a:off x="5796000" y="1537200"/>
            <a:ext cx="6742800" cy="416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19" showMasterSp="0">
  <p:cSld name="DEVICES OPT-19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/>
          <p:nvPr>
            <p:ph idx="2" type="pic"/>
          </p:nvPr>
        </p:nvSpPr>
        <p:spPr>
          <a:xfrm>
            <a:off x="2646000" y="1753200"/>
            <a:ext cx="5004000" cy="61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20" showMasterSp="0">
  <p:cSld name="DEVICES OPT-20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/>
          <p:nvPr>
            <p:ph idx="2" type="pic"/>
          </p:nvPr>
        </p:nvSpPr>
        <p:spPr>
          <a:xfrm>
            <a:off x="3761743" y="1272103"/>
            <a:ext cx="1785580" cy="3630135"/>
          </a:xfrm>
          <a:prstGeom prst="roundRect">
            <a:avLst>
              <a:gd fmla="val 106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" name="Google Shape;31;p9"/>
          <p:cNvSpPr/>
          <p:nvPr>
            <p:ph idx="3" type="pic"/>
          </p:nvPr>
        </p:nvSpPr>
        <p:spPr>
          <a:xfrm>
            <a:off x="4958772" y="1597782"/>
            <a:ext cx="1465571" cy="2979547"/>
          </a:xfrm>
          <a:prstGeom prst="roundRect">
            <a:avLst>
              <a:gd fmla="val 106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9"/>
          <p:cNvSpPr/>
          <p:nvPr>
            <p:ph idx="4" type="pic"/>
          </p:nvPr>
        </p:nvSpPr>
        <p:spPr>
          <a:xfrm>
            <a:off x="2884722" y="1597782"/>
            <a:ext cx="1465571" cy="2979547"/>
          </a:xfrm>
          <a:prstGeom prst="roundRect">
            <a:avLst>
              <a:gd fmla="val 106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- wo title">
  <p:cSld name="DEFAULT SLIDE - wo 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10"/>
          <p:cNvCxnSpPr/>
          <p:nvPr/>
        </p:nvCxnSpPr>
        <p:spPr>
          <a:xfrm>
            <a:off x="16744950" y="9186985"/>
            <a:ext cx="0" cy="74295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16916400" y="9572274"/>
            <a:ext cx="17334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750">
        <p14:flip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 SLIDE">
  <p:cSld name="1_DEFAULT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11"/>
          <p:cNvCxnSpPr/>
          <p:nvPr/>
        </p:nvCxnSpPr>
        <p:spPr>
          <a:xfrm>
            <a:off x="16783050" y="685800"/>
            <a:ext cx="0" cy="102870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" name="Google Shape;38;p11"/>
          <p:cNvSpPr txBox="1"/>
          <p:nvPr>
            <p:ph type="title"/>
          </p:nvPr>
        </p:nvSpPr>
        <p:spPr>
          <a:xfrm>
            <a:off x="11125200" y="571411"/>
            <a:ext cx="5448300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b="1" i="0" sz="4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16916400" y="9572274"/>
            <a:ext cx="17334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750">
        <p14:flip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OP SLIDE">
  <p:cSld name="DARK TOP SLID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8288001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" name="Google Shape;42;p12"/>
          <p:cNvCxnSpPr/>
          <p:nvPr/>
        </p:nvCxnSpPr>
        <p:spPr>
          <a:xfrm>
            <a:off x="704850" y="685800"/>
            <a:ext cx="0" cy="102870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12"/>
          <p:cNvSpPr txBox="1"/>
          <p:nvPr>
            <p:ph type="title"/>
          </p:nvPr>
        </p:nvSpPr>
        <p:spPr>
          <a:xfrm>
            <a:off x="876300" y="571411"/>
            <a:ext cx="5448300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500"/>
              <a:buFont typeface="Roboto"/>
              <a:buNone/>
              <a:defRPr b="1" i="0" sz="4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16916400" y="9481925"/>
            <a:ext cx="1733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750">
        <p14:flip dir="l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MIDDLE">
  <p:cSld name="DARK MIDD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76300" y="571411"/>
            <a:ext cx="5448300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b="1" i="0" sz="4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13"/>
          <p:cNvSpPr/>
          <p:nvPr/>
        </p:nvSpPr>
        <p:spPr>
          <a:xfrm>
            <a:off x="0" y="2400300"/>
            <a:ext cx="18288001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" name="Google Shape;48;p13"/>
          <p:cNvCxnSpPr/>
          <p:nvPr/>
        </p:nvCxnSpPr>
        <p:spPr>
          <a:xfrm>
            <a:off x="704850" y="685800"/>
            <a:ext cx="0" cy="102870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16916400" y="9481925"/>
            <a:ext cx="1733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750">
        <p14:flip dir="l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ACKGROUND IMAGE" showMasterSp="0">
  <p:cSld name="FULL BACKGROUND IMAGE">
    <p:bg>
      <p:bgPr>
        <a:solidFill>
          <a:schemeClr val="accent6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>
            <p:ph idx="2" type="pic"/>
          </p:nvPr>
        </p:nvSpPr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DEFAULT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76300" y="571411"/>
            <a:ext cx="54483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b="1" i="0" sz="4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17"/>
          <p:cNvSpPr txBox="1"/>
          <p:nvPr>
            <p:ph idx="12" type="sldNum"/>
          </p:nvPr>
        </p:nvSpPr>
        <p:spPr>
          <a:xfrm>
            <a:off x="16916400" y="9581325"/>
            <a:ext cx="1733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7" name="Google Shape;57;p17"/>
          <p:cNvCxnSpPr/>
          <p:nvPr/>
        </p:nvCxnSpPr>
        <p:spPr>
          <a:xfrm>
            <a:off x="704850" y="685800"/>
            <a:ext cx="0" cy="102870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17" showMasterSp="0">
  <p:cSld name="DEVICES OPT-17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/>
          <p:nvPr>
            <p:ph idx="2" type="pic"/>
          </p:nvPr>
        </p:nvSpPr>
        <p:spPr>
          <a:xfrm>
            <a:off x="7175000" y="5605200"/>
            <a:ext cx="3708000" cy="209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18"/>
          <p:cNvSpPr/>
          <p:nvPr>
            <p:ph idx="3" type="pic"/>
          </p:nvPr>
        </p:nvSpPr>
        <p:spPr>
          <a:xfrm>
            <a:off x="5688200" y="7758000"/>
            <a:ext cx="439200" cy="77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18"/>
          <p:cNvSpPr/>
          <p:nvPr>
            <p:ph idx="4" type="pic"/>
          </p:nvPr>
        </p:nvSpPr>
        <p:spPr>
          <a:xfrm>
            <a:off x="6354200" y="7110000"/>
            <a:ext cx="1069200" cy="141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18"/>
          <p:cNvSpPr/>
          <p:nvPr>
            <p:ph idx="5" type="pic"/>
          </p:nvPr>
        </p:nvSpPr>
        <p:spPr>
          <a:xfrm>
            <a:off x="10483400" y="6843600"/>
            <a:ext cx="2512800" cy="155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21" showMasterSp="0">
  <p:cSld name="DEVICES OPT-2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/>
          <p:nvPr>
            <p:ph idx="2" type="pic"/>
          </p:nvPr>
        </p:nvSpPr>
        <p:spPr>
          <a:xfrm>
            <a:off x="2710800" y="2178000"/>
            <a:ext cx="7664400" cy="433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18" showMasterSp="0">
  <p:cSld name="DEVICES OPT-18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/>
          <p:nvPr>
            <p:ph idx="2" type="pic"/>
          </p:nvPr>
        </p:nvSpPr>
        <p:spPr>
          <a:xfrm>
            <a:off x="5796000" y="1537200"/>
            <a:ext cx="6742800" cy="416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19" showMasterSp="0">
  <p:cSld name="DEVICES OPT-19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>
            <p:ph idx="2" type="pic"/>
          </p:nvPr>
        </p:nvSpPr>
        <p:spPr>
          <a:xfrm>
            <a:off x="2646000" y="1753200"/>
            <a:ext cx="5004000" cy="61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S OPT-20" showMasterSp="0">
  <p:cSld name="DEVICES OPT-20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/>
          <p:nvPr>
            <p:ph idx="2" type="pic"/>
          </p:nvPr>
        </p:nvSpPr>
        <p:spPr>
          <a:xfrm>
            <a:off x="3761743" y="1272103"/>
            <a:ext cx="1785600" cy="3630000"/>
          </a:xfrm>
          <a:prstGeom prst="roundRect">
            <a:avLst>
              <a:gd fmla="val 106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1" name="Google Shape;71;p22"/>
          <p:cNvSpPr/>
          <p:nvPr>
            <p:ph idx="3" type="pic"/>
          </p:nvPr>
        </p:nvSpPr>
        <p:spPr>
          <a:xfrm>
            <a:off x="4958772" y="1597782"/>
            <a:ext cx="1465500" cy="2979600"/>
          </a:xfrm>
          <a:prstGeom prst="roundRect">
            <a:avLst>
              <a:gd fmla="val 106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22"/>
          <p:cNvSpPr/>
          <p:nvPr>
            <p:ph idx="4" type="pic"/>
          </p:nvPr>
        </p:nvSpPr>
        <p:spPr>
          <a:xfrm>
            <a:off x="2884722" y="1597782"/>
            <a:ext cx="1465500" cy="2979600"/>
          </a:xfrm>
          <a:prstGeom prst="roundRect">
            <a:avLst>
              <a:gd fmla="val 1062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- wo title">
  <p:cSld name="DEFAULT SLIDE - wo 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23"/>
          <p:cNvCxnSpPr/>
          <p:nvPr/>
        </p:nvCxnSpPr>
        <p:spPr>
          <a:xfrm>
            <a:off x="16744950" y="9186985"/>
            <a:ext cx="0" cy="74280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16916400" y="9572274"/>
            <a:ext cx="17334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spcBef>
                <a:spcPts val="0"/>
              </a:spcBef>
              <a:buNone/>
              <a:defRPr b="1" sz="2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 SLIDE">
  <p:cSld name="1_DEFAULT SLID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24"/>
          <p:cNvCxnSpPr/>
          <p:nvPr/>
        </p:nvCxnSpPr>
        <p:spPr>
          <a:xfrm>
            <a:off x="16783050" y="685800"/>
            <a:ext cx="0" cy="102870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" name="Google Shape;78;p24"/>
          <p:cNvSpPr txBox="1"/>
          <p:nvPr>
            <p:ph type="title"/>
          </p:nvPr>
        </p:nvSpPr>
        <p:spPr>
          <a:xfrm>
            <a:off x="11125200" y="571411"/>
            <a:ext cx="54483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b="1" i="0" sz="4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16916400" y="9572274"/>
            <a:ext cx="17334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OP SLIDE">
  <p:cSld name="DARK TOP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/>
          <p:nvPr/>
        </p:nvSpPr>
        <p:spPr>
          <a:xfrm>
            <a:off x="0" y="0"/>
            <a:ext cx="18288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" name="Google Shape;82;p25"/>
          <p:cNvCxnSpPr/>
          <p:nvPr/>
        </p:nvCxnSpPr>
        <p:spPr>
          <a:xfrm>
            <a:off x="704850" y="685800"/>
            <a:ext cx="0" cy="102870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" name="Google Shape;83;p25"/>
          <p:cNvSpPr txBox="1"/>
          <p:nvPr>
            <p:ph type="title"/>
          </p:nvPr>
        </p:nvSpPr>
        <p:spPr>
          <a:xfrm>
            <a:off x="876300" y="571411"/>
            <a:ext cx="54483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500"/>
              <a:buFont typeface="Roboto"/>
              <a:buNone/>
              <a:defRPr b="1" i="0" sz="45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16916400" y="9481925"/>
            <a:ext cx="1733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MIDDLE">
  <p:cSld name="DARK MIDDL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6"/>
          <p:cNvSpPr txBox="1"/>
          <p:nvPr>
            <p:ph type="title"/>
          </p:nvPr>
        </p:nvSpPr>
        <p:spPr>
          <a:xfrm>
            <a:off x="876300" y="571411"/>
            <a:ext cx="54483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b="1" i="0" sz="4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7" name="Google Shape;87;p26"/>
          <p:cNvSpPr/>
          <p:nvPr/>
        </p:nvSpPr>
        <p:spPr>
          <a:xfrm>
            <a:off x="0" y="2400300"/>
            <a:ext cx="18288000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" name="Google Shape;88;p26"/>
          <p:cNvCxnSpPr/>
          <p:nvPr/>
        </p:nvCxnSpPr>
        <p:spPr>
          <a:xfrm>
            <a:off x="704850" y="685800"/>
            <a:ext cx="0" cy="1028700"/>
          </a:xfrm>
          <a:prstGeom prst="straightConnector1">
            <a:avLst/>
          </a:prstGeom>
          <a:noFill/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" name="Google Shape;89;p26"/>
          <p:cNvSpPr txBox="1"/>
          <p:nvPr>
            <p:ph idx="12" type="sldNum"/>
          </p:nvPr>
        </p:nvSpPr>
        <p:spPr>
          <a:xfrm>
            <a:off x="16916400" y="9481925"/>
            <a:ext cx="1733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buNone/>
              <a:def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 showMasterSp="0">
  <p:cSld name="Thank You Slide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/>
          <p:nvPr/>
        </p:nvSpPr>
        <p:spPr>
          <a:xfrm>
            <a:off x="832199" y="698750"/>
            <a:ext cx="16545600" cy="26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7"/>
          <p:cNvSpPr/>
          <p:nvPr/>
        </p:nvSpPr>
        <p:spPr>
          <a:xfrm>
            <a:off x="545000" y="9418700"/>
            <a:ext cx="168150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swald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WELCOME TO GA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swald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GENERAL ASSEMBLY</a:t>
            </a:r>
            <a:endParaRPr sz="1000"/>
          </a:p>
        </p:txBody>
      </p:sp>
      <p:cxnSp>
        <p:nvCxnSpPr>
          <p:cNvPr id="93" name="Google Shape;93;p27"/>
          <p:cNvCxnSpPr/>
          <p:nvPr/>
        </p:nvCxnSpPr>
        <p:spPr>
          <a:xfrm>
            <a:off x="736400" y="9473612"/>
            <a:ext cx="16623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7"/>
          <p:cNvSpPr/>
          <p:nvPr/>
        </p:nvSpPr>
        <p:spPr>
          <a:xfrm>
            <a:off x="16938499" y="9587048"/>
            <a:ext cx="421501" cy="421501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27"/>
          <p:cNvSpPr/>
          <p:nvPr/>
        </p:nvSpPr>
        <p:spPr>
          <a:xfrm>
            <a:off x="-109600" y="-58800"/>
            <a:ext cx="18505200" cy="10409400"/>
          </a:xfrm>
          <a:prstGeom prst="rect">
            <a:avLst/>
          </a:prstGeom>
          <a:solidFill>
            <a:srgbClr val="01799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7"/>
          <p:cNvSpPr txBox="1"/>
          <p:nvPr>
            <p:ph type="title"/>
          </p:nvPr>
        </p:nvSpPr>
        <p:spPr>
          <a:xfrm>
            <a:off x="914400" y="3554075"/>
            <a:ext cx="12028200" cy="3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7"/>
          <p:cNvSpPr txBox="1"/>
          <p:nvPr>
            <p:ph idx="1" type="subTitle"/>
          </p:nvPr>
        </p:nvSpPr>
        <p:spPr>
          <a:xfrm>
            <a:off x="1004650" y="2443287"/>
            <a:ext cx="149154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7"/>
          <p:cNvSpPr/>
          <p:nvPr/>
        </p:nvSpPr>
        <p:spPr>
          <a:xfrm>
            <a:off x="1194299" y="3389089"/>
            <a:ext cx="880200" cy="16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8650" lIns="128650" spcFirstLastPara="1" rIns="128650" wrap="square" tIns="128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GA-Cog-900.png" id="99" name="Google Shape;99;p27"/>
          <p:cNvSpPr/>
          <p:nvPr/>
        </p:nvSpPr>
        <p:spPr>
          <a:xfrm>
            <a:off x="16741500" y="9403000"/>
            <a:ext cx="632101" cy="6321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Basic: Title + Text">
  <p:cSld name="CUSTOM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8"/>
          <p:cNvSpPr txBox="1"/>
          <p:nvPr>
            <p:ph type="title"/>
          </p:nvPr>
        </p:nvSpPr>
        <p:spPr>
          <a:xfrm>
            <a:off x="914400" y="5607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2" name="Google Shape;102;p28"/>
          <p:cNvSpPr txBox="1"/>
          <p:nvPr>
            <p:ph idx="1" type="body"/>
          </p:nvPr>
        </p:nvSpPr>
        <p:spPr>
          <a:xfrm>
            <a:off x="914400" y="2499700"/>
            <a:ext cx="16438200" cy="5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406400" lvl="1" marL="914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914400" y="9325450"/>
            <a:ext cx="57210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| © 2018 General Assembly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" name="Google Shape;104;p28"/>
          <p:cNvSpPr/>
          <p:nvPr/>
        </p:nvSpPr>
        <p:spPr>
          <a:xfrm>
            <a:off x="1128330" y="447373"/>
            <a:ext cx="605400" cy="113400"/>
          </a:xfrm>
          <a:prstGeom prst="rect">
            <a:avLst/>
          </a:prstGeom>
          <a:solidFill>
            <a:srgbClr val="ED332F"/>
          </a:solidFill>
          <a:ln>
            <a:noFill/>
          </a:ln>
        </p:spPr>
        <p:txBody>
          <a:bodyPr anchorCtr="0" anchor="ctr" bIns="128650" lIns="128650" spcFirstLastPara="1" rIns="128650" wrap="square" tIns="128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9AD4C"/>
          </p15:clr>
        </p15:guide>
        <p15:guide id="2" pos="5760">
          <p15:clr>
            <a:srgbClr val="F9AD4C"/>
          </p15:clr>
        </p15:guide>
        <p15:guide id="3" pos="576">
          <p15:clr>
            <a:srgbClr val="F9AD4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itle Only">
  <p:cSld name="CUSTOM_6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9"/>
          <p:cNvSpPr txBox="1"/>
          <p:nvPr>
            <p:ph idx="12" type="sldNum"/>
          </p:nvPr>
        </p:nvSpPr>
        <p:spPr>
          <a:xfrm>
            <a:off x="914400" y="9325450"/>
            <a:ext cx="47442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lnSpc>
                <a:spcPct val="100000"/>
              </a:lnSpc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lnSpc>
                <a:spcPct val="100000"/>
              </a:lnSpc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lnSpc>
                <a:spcPct val="100000"/>
              </a:lnSpc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lnSpc>
                <a:spcPct val="100000"/>
              </a:lnSpc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lnSpc>
                <a:spcPct val="100000"/>
              </a:lnSpc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lnSpc>
                <a:spcPct val="100000"/>
              </a:lnSpc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lnSpc>
                <a:spcPct val="100000"/>
              </a:lnSpc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lnSpc>
                <a:spcPct val="100000"/>
              </a:lnSpc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| © 2018 General Assembly</a:t>
            </a:r>
            <a:endParaRPr/>
          </a:p>
        </p:txBody>
      </p:sp>
      <p:sp>
        <p:nvSpPr>
          <p:cNvPr id="107" name="Google Shape;107;p29"/>
          <p:cNvSpPr txBox="1"/>
          <p:nvPr>
            <p:ph type="title"/>
          </p:nvPr>
        </p:nvSpPr>
        <p:spPr>
          <a:xfrm>
            <a:off x="914400" y="5607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8" name="Google Shape;108;p29"/>
          <p:cNvSpPr/>
          <p:nvPr/>
        </p:nvSpPr>
        <p:spPr>
          <a:xfrm>
            <a:off x="1128330" y="447373"/>
            <a:ext cx="605400" cy="113400"/>
          </a:xfrm>
          <a:prstGeom prst="rect">
            <a:avLst/>
          </a:prstGeom>
          <a:solidFill>
            <a:srgbClr val="ED332F"/>
          </a:solidFill>
          <a:ln>
            <a:noFill/>
          </a:ln>
        </p:spPr>
        <p:txBody>
          <a:bodyPr anchorCtr="0" anchor="ctr" bIns="128650" lIns="128650" spcFirstLastPara="1" rIns="128650" wrap="square" tIns="128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6916400" y="9572274"/>
            <a:ext cx="17334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buNone/>
              <a:defRPr b="1" sz="1600" u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buNone/>
              <a:defRPr b="1" sz="1600" u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buNone/>
              <a:defRPr b="1" sz="1600" u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buNone/>
              <a:defRPr b="1" sz="1600" u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buNone/>
              <a:defRPr b="1" sz="1600" u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buNone/>
              <a:defRPr b="1" sz="1600" u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buNone/>
              <a:defRPr b="1" sz="1600" u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buNone/>
              <a:defRPr b="1" sz="1600" u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buNone/>
              <a:defRPr b="1" sz="1600" u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1750">
        <p14:flip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learn.ziplines.com/" TargetMode="External"/><Relationship Id="rId4" Type="http://schemas.openxmlformats.org/officeDocument/2006/relationships/hyperlink" Target="https://vimeo.com/1012022804/5d3f3469e3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upport.google.com/analytics/answer/6367342#access&amp;zippy=%2Cin-this-articl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support.google.com/analytics/answer/6367342#access&amp;zippy=%2Cin-this-artic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nalytics.google.com/analytics/web/#/p153293282/reports/intelligenthome?params=_u..nav%3Dmaui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arn.ziplines.com/" TargetMode="External"/><Relationship Id="rId4" Type="http://schemas.openxmlformats.org/officeDocument/2006/relationships/hyperlink" Target="https://vimeo.com/1012022804/5d3f3469e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/>
        </p:nvSpPr>
        <p:spPr>
          <a:xfrm>
            <a:off x="1155250" y="1304300"/>
            <a:ext cx="9396600" cy="24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</a:t>
            </a:r>
            <a:r>
              <a:rPr lang="en-US" sz="45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45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DIGITAL </a:t>
            </a:r>
            <a:endParaRPr sz="45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MARKETING PLAYBOOK</a:t>
            </a:r>
            <a:r>
              <a:rPr lang="en-US"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3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30"/>
          <p:cNvSpPr txBox="1"/>
          <p:nvPr/>
        </p:nvSpPr>
        <p:spPr>
          <a:xfrm>
            <a:off x="0" y="3237400"/>
            <a:ext cx="18288000" cy="122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118870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500">
                <a:solidFill>
                  <a:srgbClr val="D31D4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GOOGLE ANALYTICS</a:t>
            </a:r>
            <a:r>
              <a:rPr lang="en-US" sz="4500">
                <a:solidFill>
                  <a:srgbClr val="D31D4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sz="4500">
              <a:solidFill>
                <a:srgbClr val="D31D4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5" name="Google Shape;115;p30"/>
          <p:cNvSpPr txBox="1"/>
          <p:nvPr/>
        </p:nvSpPr>
        <p:spPr>
          <a:xfrm>
            <a:off x="1155250" y="4844023"/>
            <a:ext cx="9396600" cy="22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Tracking &amp; Analyzing</a:t>
            </a:r>
            <a:r>
              <a:rPr lang="en-US" sz="65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Data in GA4</a:t>
            </a:r>
            <a:endParaRPr sz="6500">
              <a:solidFill>
                <a:srgbClr val="9C133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0">
              <a:solidFill>
                <a:schemeClr val="dk1"/>
              </a:solidFill>
              <a:highlight>
                <a:srgbClr val="FFFF00"/>
              </a:highlight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16" name="Google Shape;1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9750" y="1304300"/>
            <a:ext cx="5264664" cy="552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14:flip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/>
          <p:nvPr>
            <p:ph type="title"/>
          </p:nvPr>
        </p:nvSpPr>
        <p:spPr>
          <a:xfrm>
            <a:off x="876300" y="571400"/>
            <a:ext cx="112155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Roboto"/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INSTRUCTIONS: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GETTING STARTED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31"/>
          <p:cNvSpPr txBox="1"/>
          <p:nvPr/>
        </p:nvSpPr>
        <p:spPr>
          <a:xfrm>
            <a:off x="1092700" y="2404075"/>
            <a:ext cx="16980900" cy="6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Complete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your assignment on the following slides .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 the share settings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so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anyone with the link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view the document.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Submit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link 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this deck in the </a:t>
            </a:r>
            <a:r>
              <a:rPr lang="en-US" sz="3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Learning Management System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Tips for completing your assignment: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1D46"/>
              </a:buClr>
              <a:buSzPts val="3000"/>
              <a:buFont typeface="Poppins"/>
              <a:buChar char="●"/>
            </a:pP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Rename your copy and add your name to the file.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Playbook 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Assignment: Create a GoDaddy customer persona-MRogers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1D46"/>
              </a:buClr>
              <a:buSzPts val="3000"/>
              <a:buFont typeface="Poppins"/>
              <a:buChar char="●"/>
            </a:pP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 each slide carefully to ensure you complete the assignment successfully.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1D46"/>
              </a:buClr>
              <a:buSzPts val="3000"/>
              <a:buFont typeface="Poppins"/>
              <a:buChar char="●"/>
            </a:pP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Review your playbook before submitting for accuracy, grammar and spelling.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5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Watch this video for a quick demo</a:t>
            </a:r>
            <a:r>
              <a:rPr lang="en-US"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4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31"/>
          <p:cNvSpPr txBox="1"/>
          <p:nvPr/>
        </p:nvSpPr>
        <p:spPr>
          <a:xfrm>
            <a:off x="27375" y="9917525"/>
            <a:ext cx="112011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2"/>
          <p:cNvSpPr txBox="1"/>
          <p:nvPr/>
        </p:nvSpPr>
        <p:spPr>
          <a:xfrm>
            <a:off x="876300" y="1910300"/>
            <a:ext cx="15539400" cy="57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Digital analytics is the practice of tracking and analyzing website or app data to measure progress toward business goals. Google Analytics 4 (GA4) provides insights that help guide marketing strategies, improve content, and identify audience opportunities.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playbook will help you learn how to navigate GA4, locate key metrics, and gather insights.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Using the </a:t>
            </a:r>
            <a:r>
              <a:rPr lang="en-US" sz="25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Google Analytics 4 Demo Account 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(Google Merch Store), you will complete the exercises on slides 9-12 to practice finding and interpreting data.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 to note: 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These exercises will also prepare you for the Google Analytics Certification and build confidence using real analytics tools.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32"/>
          <p:cNvSpPr txBox="1"/>
          <p:nvPr>
            <p:ph type="title"/>
          </p:nvPr>
        </p:nvSpPr>
        <p:spPr>
          <a:xfrm>
            <a:off x="876300" y="571400"/>
            <a:ext cx="14005200" cy="133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INSTRUCTIONS: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Introduction and assignment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0" name="Google Shape;130;p32"/>
          <p:cNvGrpSpPr/>
          <p:nvPr/>
        </p:nvGrpSpPr>
        <p:grpSpPr>
          <a:xfrm>
            <a:off x="876311" y="8221620"/>
            <a:ext cx="12092600" cy="968913"/>
            <a:chOff x="876311" y="7767645"/>
            <a:chExt cx="12092600" cy="968913"/>
          </a:xfrm>
        </p:grpSpPr>
        <p:sp>
          <p:nvSpPr>
            <p:cNvPr id="131" name="Google Shape;131;p32"/>
            <p:cNvSpPr/>
            <p:nvPr/>
          </p:nvSpPr>
          <p:spPr>
            <a:xfrm>
              <a:off x="3898892" y="7767645"/>
              <a:ext cx="3023700" cy="966300"/>
            </a:xfrm>
            <a:prstGeom prst="rect">
              <a:avLst/>
            </a:prstGeom>
            <a:solidFill>
              <a:srgbClr val="E25B69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2525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32" name="Google Shape;132;p32"/>
            <p:cNvSpPr/>
            <p:nvPr/>
          </p:nvSpPr>
          <p:spPr>
            <a:xfrm>
              <a:off x="6922592" y="7767645"/>
              <a:ext cx="3023700" cy="966300"/>
            </a:xfrm>
            <a:prstGeom prst="rect">
              <a:avLst/>
            </a:prstGeom>
            <a:solidFill>
              <a:srgbClr val="D31D46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2525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33" name="Google Shape;133;p32"/>
            <p:cNvSpPr/>
            <p:nvPr/>
          </p:nvSpPr>
          <p:spPr>
            <a:xfrm>
              <a:off x="9946310" y="7767645"/>
              <a:ext cx="3022600" cy="968913"/>
            </a:xfrm>
            <a:custGeom>
              <a:rect b="b" l="l" r="r" t="t"/>
              <a:pathLst>
                <a:path extrusionOk="0" h="94" w="284">
                  <a:moveTo>
                    <a:pt x="238" y="94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38" y="0"/>
                    <a:pt x="238" y="0"/>
                    <a:pt x="238" y="0"/>
                  </a:cubicBezTo>
                  <a:cubicBezTo>
                    <a:pt x="263" y="0"/>
                    <a:pt x="284" y="21"/>
                    <a:pt x="284" y="47"/>
                  </a:cubicBezTo>
                  <a:cubicBezTo>
                    <a:pt x="284" y="47"/>
                    <a:pt x="284" y="47"/>
                    <a:pt x="284" y="47"/>
                  </a:cubicBezTo>
                  <a:cubicBezTo>
                    <a:pt x="284" y="73"/>
                    <a:pt x="263" y="94"/>
                    <a:pt x="238" y="94"/>
                  </a:cubicBezTo>
                  <a:close/>
                </a:path>
              </a:pathLst>
            </a:custGeom>
            <a:solidFill>
              <a:srgbClr val="9C1332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2525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34" name="Google Shape;134;p32"/>
            <p:cNvSpPr/>
            <p:nvPr/>
          </p:nvSpPr>
          <p:spPr>
            <a:xfrm>
              <a:off x="876311" y="7767645"/>
              <a:ext cx="3022600" cy="966400"/>
            </a:xfrm>
            <a:custGeom>
              <a:rect b="b" l="l" r="r" t="t"/>
              <a:pathLst>
                <a:path extrusionOk="0" h="94" w="285">
                  <a:moveTo>
                    <a:pt x="285" y="94"/>
                  </a:moveTo>
                  <a:cubicBezTo>
                    <a:pt x="47" y="94"/>
                    <a:pt x="47" y="94"/>
                    <a:pt x="47" y="94"/>
                  </a:cubicBezTo>
                  <a:cubicBezTo>
                    <a:pt x="21" y="94"/>
                    <a:pt x="0" y="73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21"/>
                    <a:pt x="21" y="0"/>
                    <a:pt x="47" y="0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285" y="94"/>
                  </a:lnTo>
                  <a:close/>
                </a:path>
              </a:pathLst>
            </a:custGeom>
            <a:solidFill>
              <a:srgbClr val="FBC4C5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2525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35" name="Google Shape;135;p32"/>
            <p:cNvSpPr txBox="1"/>
            <p:nvPr/>
          </p:nvSpPr>
          <p:spPr>
            <a:xfrm>
              <a:off x="1480425" y="8059037"/>
              <a:ext cx="1806300" cy="3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9C133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REVIEW</a:t>
              </a:r>
              <a:endParaRPr sz="1900">
                <a:solidFill>
                  <a:srgbClr val="9C1332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36" name="Google Shape;136;p32"/>
            <p:cNvSpPr txBox="1"/>
            <p:nvPr/>
          </p:nvSpPr>
          <p:spPr>
            <a:xfrm>
              <a:off x="4225731" y="8059037"/>
              <a:ext cx="1806300" cy="3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COMPLETE</a:t>
              </a:r>
              <a:endParaRPr sz="1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37" name="Google Shape;137;p32"/>
            <p:cNvSpPr txBox="1"/>
            <p:nvPr/>
          </p:nvSpPr>
          <p:spPr>
            <a:xfrm>
              <a:off x="7428243" y="8059037"/>
              <a:ext cx="2469600" cy="3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REFLECT</a:t>
              </a:r>
              <a:endParaRPr sz="1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38" name="Google Shape;138;p32"/>
            <p:cNvSpPr txBox="1"/>
            <p:nvPr/>
          </p:nvSpPr>
          <p:spPr>
            <a:xfrm>
              <a:off x="10500728" y="8059037"/>
              <a:ext cx="1806300" cy="3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SUBMIT</a:t>
              </a:r>
              <a:endParaRPr sz="1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39" name="Google Shape;139;p32"/>
            <p:cNvSpPr/>
            <p:nvPr/>
          </p:nvSpPr>
          <p:spPr>
            <a:xfrm>
              <a:off x="9065201" y="7999142"/>
              <a:ext cx="544800" cy="550500"/>
            </a:xfrm>
            <a:custGeom>
              <a:rect b="b" l="l" r="r" t="t"/>
              <a:pathLst>
                <a:path extrusionOk="0" h="120000" w="120000">
                  <a:moveTo>
                    <a:pt x="77400" y="36123"/>
                  </a:moveTo>
                  <a:lnTo>
                    <a:pt x="24868" y="88651"/>
                  </a:lnTo>
                  <a:lnTo>
                    <a:pt x="31342" y="95066"/>
                  </a:lnTo>
                  <a:lnTo>
                    <a:pt x="83874" y="42612"/>
                  </a:lnTo>
                  <a:lnTo>
                    <a:pt x="77400" y="36123"/>
                  </a:lnTo>
                  <a:close/>
                  <a:moveTo>
                    <a:pt x="76848" y="16840"/>
                  </a:moveTo>
                  <a:lnTo>
                    <a:pt x="103114" y="43086"/>
                  </a:lnTo>
                  <a:lnTo>
                    <a:pt x="33770" y="112454"/>
                  </a:lnTo>
                  <a:lnTo>
                    <a:pt x="0" y="120000"/>
                  </a:lnTo>
                  <a:lnTo>
                    <a:pt x="7504" y="86245"/>
                  </a:lnTo>
                  <a:lnTo>
                    <a:pt x="76848" y="16840"/>
                  </a:lnTo>
                  <a:close/>
                  <a:moveTo>
                    <a:pt x="101238" y="0"/>
                  </a:moveTo>
                  <a:lnTo>
                    <a:pt x="101238" y="0"/>
                  </a:lnTo>
                  <a:lnTo>
                    <a:pt x="103298" y="109"/>
                  </a:lnTo>
                  <a:lnTo>
                    <a:pt x="105285" y="400"/>
                  </a:lnTo>
                  <a:lnTo>
                    <a:pt x="107161" y="911"/>
                  </a:lnTo>
                  <a:lnTo>
                    <a:pt x="109000" y="1640"/>
                  </a:lnTo>
                  <a:lnTo>
                    <a:pt x="110692" y="2551"/>
                  </a:lnTo>
                  <a:lnTo>
                    <a:pt x="112311" y="3608"/>
                  </a:lnTo>
                  <a:lnTo>
                    <a:pt x="113819" y="4811"/>
                  </a:lnTo>
                  <a:lnTo>
                    <a:pt x="115180" y="6160"/>
                  </a:lnTo>
                  <a:lnTo>
                    <a:pt x="116394" y="7654"/>
                  </a:lnTo>
                  <a:lnTo>
                    <a:pt x="117424" y="9295"/>
                  </a:lnTo>
                  <a:lnTo>
                    <a:pt x="118344" y="10972"/>
                  </a:lnTo>
                  <a:lnTo>
                    <a:pt x="119043" y="12794"/>
                  </a:lnTo>
                  <a:lnTo>
                    <a:pt x="119595" y="14690"/>
                  </a:lnTo>
                  <a:lnTo>
                    <a:pt x="119889" y="16695"/>
                  </a:lnTo>
                  <a:lnTo>
                    <a:pt x="120000" y="18736"/>
                  </a:lnTo>
                  <a:lnTo>
                    <a:pt x="119889" y="20814"/>
                  </a:lnTo>
                  <a:lnTo>
                    <a:pt x="119558" y="22855"/>
                  </a:lnTo>
                  <a:lnTo>
                    <a:pt x="119006" y="24750"/>
                  </a:lnTo>
                  <a:lnTo>
                    <a:pt x="118270" y="26609"/>
                  </a:lnTo>
                  <a:lnTo>
                    <a:pt x="117351" y="28359"/>
                  </a:lnTo>
                  <a:lnTo>
                    <a:pt x="116284" y="30000"/>
                  </a:lnTo>
                  <a:lnTo>
                    <a:pt x="108743" y="37472"/>
                  </a:lnTo>
                  <a:lnTo>
                    <a:pt x="82513" y="11227"/>
                  </a:lnTo>
                  <a:lnTo>
                    <a:pt x="89981" y="3754"/>
                  </a:lnTo>
                  <a:lnTo>
                    <a:pt x="91600" y="2624"/>
                  </a:lnTo>
                  <a:lnTo>
                    <a:pt x="93366" y="1713"/>
                  </a:lnTo>
                  <a:lnTo>
                    <a:pt x="95242" y="947"/>
                  </a:lnTo>
                  <a:lnTo>
                    <a:pt x="97155" y="437"/>
                  </a:lnTo>
                  <a:lnTo>
                    <a:pt x="99178" y="109"/>
                  </a:lnTo>
                  <a:lnTo>
                    <a:pt x="101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2525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40" name="Google Shape;140;p32"/>
            <p:cNvSpPr/>
            <p:nvPr/>
          </p:nvSpPr>
          <p:spPr>
            <a:xfrm>
              <a:off x="2985926" y="7996024"/>
              <a:ext cx="517200" cy="517200"/>
            </a:xfrm>
            <a:custGeom>
              <a:rect b="b" l="l" r="r" t="t"/>
              <a:pathLst>
                <a:path extrusionOk="0" h="120000" w="120000">
                  <a:moveTo>
                    <a:pt x="115665" y="96157"/>
                  </a:moveTo>
                  <a:lnTo>
                    <a:pt x="115665" y="96157"/>
                  </a:lnTo>
                  <a:cubicBezTo>
                    <a:pt x="62660" y="118423"/>
                    <a:pt x="62660" y="118423"/>
                    <a:pt x="62660" y="118423"/>
                  </a:cubicBezTo>
                  <a:cubicBezTo>
                    <a:pt x="61280" y="119802"/>
                    <a:pt x="61280" y="119802"/>
                    <a:pt x="59901" y="119802"/>
                  </a:cubicBezTo>
                  <a:cubicBezTo>
                    <a:pt x="58522" y="119802"/>
                    <a:pt x="58522" y="119802"/>
                    <a:pt x="57142" y="118423"/>
                  </a:cubicBezTo>
                  <a:cubicBezTo>
                    <a:pt x="4137" y="96157"/>
                    <a:pt x="4137" y="96157"/>
                    <a:pt x="4137" y="96157"/>
                  </a:cubicBezTo>
                  <a:cubicBezTo>
                    <a:pt x="1379" y="96157"/>
                    <a:pt x="0" y="93399"/>
                    <a:pt x="0" y="92019"/>
                  </a:cubicBezTo>
                  <a:cubicBezTo>
                    <a:pt x="0" y="5714"/>
                    <a:pt x="0" y="5714"/>
                    <a:pt x="0" y="5714"/>
                  </a:cubicBezTo>
                  <a:cubicBezTo>
                    <a:pt x="0" y="2955"/>
                    <a:pt x="2758" y="0"/>
                    <a:pt x="5517" y="0"/>
                  </a:cubicBezTo>
                  <a:cubicBezTo>
                    <a:pt x="6896" y="0"/>
                    <a:pt x="6896" y="0"/>
                    <a:pt x="8275" y="1576"/>
                  </a:cubicBezTo>
                  <a:cubicBezTo>
                    <a:pt x="59901" y="22463"/>
                    <a:pt x="59901" y="22463"/>
                    <a:pt x="59901" y="22463"/>
                  </a:cubicBezTo>
                  <a:cubicBezTo>
                    <a:pt x="111330" y="1576"/>
                    <a:pt x="111330" y="1576"/>
                    <a:pt x="111330" y="1576"/>
                  </a:cubicBezTo>
                  <a:cubicBezTo>
                    <a:pt x="112709" y="0"/>
                    <a:pt x="112709" y="0"/>
                    <a:pt x="114088" y="0"/>
                  </a:cubicBezTo>
                  <a:cubicBezTo>
                    <a:pt x="117044" y="0"/>
                    <a:pt x="119802" y="2955"/>
                    <a:pt x="119802" y="5714"/>
                  </a:cubicBezTo>
                  <a:cubicBezTo>
                    <a:pt x="119802" y="92019"/>
                    <a:pt x="119802" y="92019"/>
                    <a:pt x="119802" y="92019"/>
                  </a:cubicBezTo>
                  <a:cubicBezTo>
                    <a:pt x="119802" y="93399"/>
                    <a:pt x="118423" y="96157"/>
                    <a:pt x="115665" y="96157"/>
                  </a:cubicBezTo>
                  <a:close/>
                  <a:moveTo>
                    <a:pt x="54384" y="32118"/>
                  </a:moveTo>
                  <a:lnTo>
                    <a:pt x="54384" y="32118"/>
                  </a:lnTo>
                  <a:cubicBezTo>
                    <a:pt x="11034" y="13990"/>
                    <a:pt x="11034" y="13990"/>
                    <a:pt x="11034" y="13990"/>
                  </a:cubicBezTo>
                  <a:cubicBezTo>
                    <a:pt x="11034" y="87881"/>
                    <a:pt x="11034" y="87881"/>
                    <a:pt x="11034" y="87881"/>
                  </a:cubicBezTo>
                  <a:cubicBezTo>
                    <a:pt x="54384" y="106009"/>
                    <a:pt x="54384" y="106009"/>
                    <a:pt x="54384" y="106009"/>
                  </a:cubicBezTo>
                  <a:lnTo>
                    <a:pt x="54384" y="32118"/>
                  </a:lnTo>
                  <a:close/>
                  <a:moveTo>
                    <a:pt x="108571" y="13990"/>
                  </a:moveTo>
                  <a:lnTo>
                    <a:pt x="108571" y="13990"/>
                  </a:lnTo>
                  <a:cubicBezTo>
                    <a:pt x="65418" y="32118"/>
                    <a:pt x="65418" y="32118"/>
                    <a:pt x="65418" y="32118"/>
                  </a:cubicBezTo>
                  <a:cubicBezTo>
                    <a:pt x="65418" y="106009"/>
                    <a:pt x="65418" y="106009"/>
                    <a:pt x="65418" y="106009"/>
                  </a:cubicBezTo>
                  <a:cubicBezTo>
                    <a:pt x="108571" y="87881"/>
                    <a:pt x="108571" y="87881"/>
                    <a:pt x="108571" y="87881"/>
                  </a:cubicBezTo>
                  <a:lnTo>
                    <a:pt x="108571" y="13990"/>
                  </a:lnTo>
                  <a:close/>
                  <a:moveTo>
                    <a:pt x="73891" y="40591"/>
                  </a:moveTo>
                  <a:lnTo>
                    <a:pt x="73891" y="40591"/>
                  </a:lnTo>
                  <a:cubicBezTo>
                    <a:pt x="94581" y="30738"/>
                    <a:pt x="94581" y="30738"/>
                    <a:pt x="94581" y="30738"/>
                  </a:cubicBezTo>
                  <a:cubicBezTo>
                    <a:pt x="96157" y="30738"/>
                    <a:pt x="96157" y="30738"/>
                    <a:pt x="97536" y="30738"/>
                  </a:cubicBezTo>
                  <a:cubicBezTo>
                    <a:pt x="100295" y="30738"/>
                    <a:pt x="103054" y="32118"/>
                    <a:pt x="103054" y="36256"/>
                  </a:cubicBezTo>
                  <a:cubicBezTo>
                    <a:pt x="103054" y="37635"/>
                    <a:pt x="101674" y="40591"/>
                    <a:pt x="98916" y="40591"/>
                  </a:cubicBezTo>
                  <a:cubicBezTo>
                    <a:pt x="79408" y="50246"/>
                    <a:pt x="79408" y="50246"/>
                    <a:pt x="79408" y="50246"/>
                  </a:cubicBezTo>
                  <a:cubicBezTo>
                    <a:pt x="78029" y="50246"/>
                    <a:pt x="78029" y="50246"/>
                    <a:pt x="76650" y="50246"/>
                  </a:cubicBezTo>
                  <a:cubicBezTo>
                    <a:pt x="73891" y="50246"/>
                    <a:pt x="70935" y="48866"/>
                    <a:pt x="70935" y="44729"/>
                  </a:cubicBezTo>
                  <a:cubicBezTo>
                    <a:pt x="70935" y="43349"/>
                    <a:pt x="72315" y="40591"/>
                    <a:pt x="73891" y="40591"/>
                  </a:cubicBezTo>
                  <a:close/>
                  <a:moveTo>
                    <a:pt x="73891" y="59901"/>
                  </a:moveTo>
                  <a:lnTo>
                    <a:pt x="73891" y="59901"/>
                  </a:lnTo>
                  <a:cubicBezTo>
                    <a:pt x="94581" y="51625"/>
                    <a:pt x="94581" y="51625"/>
                    <a:pt x="94581" y="51625"/>
                  </a:cubicBezTo>
                  <a:cubicBezTo>
                    <a:pt x="96157" y="50246"/>
                    <a:pt x="96157" y="50246"/>
                    <a:pt x="97536" y="50246"/>
                  </a:cubicBezTo>
                  <a:cubicBezTo>
                    <a:pt x="100295" y="50246"/>
                    <a:pt x="103054" y="53004"/>
                    <a:pt x="103054" y="55763"/>
                  </a:cubicBezTo>
                  <a:cubicBezTo>
                    <a:pt x="103054" y="58522"/>
                    <a:pt x="101674" y="59901"/>
                    <a:pt x="98916" y="61280"/>
                  </a:cubicBezTo>
                  <a:cubicBezTo>
                    <a:pt x="79408" y="71133"/>
                    <a:pt x="79408" y="71133"/>
                    <a:pt x="79408" y="71133"/>
                  </a:cubicBezTo>
                  <a:cubicBezTo>
                    <a:pt x="78029" y="71133"/>
                    <a:pt x="78029" y="71133"/>
                    <a:pt x="76650" y="71133"/>
                  </a:cubicBezTo>
                  <a:cubicBezTo>
                    <a:pt x="73891" y="71133"/>
                    <a:pt x="70935" y="68374"/>
                    <a:pt x="70935" y="65615"/>
                  </a:cubicBezTo>
                  <a:cubicBezTo>
                    <a:pt x="70935" y="62857"/>
                    <a:pt x="72315" y="61280"/>
                    <a:pt x="73891" y="59901"/>
                  </a:cubicBezTo>
                  <a:close/>
                  <a:moveTo>
                    <a:pt x="73891" y="80788"/>
                  </a:moveTo>
                  <a:lnTo>
                    <a:pt x="73891" y="80788"/>
                  </a:lnTo>
                  <a:cubicBezTo>
                    <a:pt x="94581" y="71133"/>
                    <a:pt x="94581" y="71133"/>
                    <a:pt x="94581" y="71133"/>
                  </a:cubicBezTo>
                  <a:cubicBezTo>
                    <a:pt x="96157" y="71133"/>
                    <a:pt x="96157" y="71133"/>
                    <a:pt x="97536" y="71133"/>
                  </a:cubicBezTo>
                  <a:cubicBezTo>
                    <a:pt x="100295" y="71133"/>
                    <a:pt x="103054" y="73891"/>
                    <a:pt x="103054" y="76650"/>
                  </a:cubicBezTo>
                  <a:cubicBezTo>
                    <a:pt x="103054" y="79408"/>
                    <a:pt x="101674" y="80788"/>
                    <a:pt x="98916" y="82167"/>
                  </a:cubicBezTo>
                  <a:cubicBezTo>
                    <a:pt x="79408" y="90640"/>
                    <a:pt x="79408" y="90640"/>
                    <a:pt x="79408" y="90640"/>
                  </a:cubicBezTo>
                  <a:cubicBezTo>
                    <a:pt x="78029" y="92019"/>
                    <a:pt x="78029" y="92019"/>
                    <a:pt x="76650" y="92019"/>
                  </a:cubicBezTo>
                  <a:cubicBezTo>
                    <a:pt x="73891" y="92019"/>
                    <a:pt x="70935" y="89261"/>
                    <a:pt x="70935" y="86502"/>
                  </a:cubicBezTo>
                  <a:cubicBezTo>
                    <a:pt x="70935" y="83743"/>
                    <a:pt x="72315" y="82167"/>
                    <a:pt x="73891" y="80788"/>
                  </a:cubicBezTo>
                  <a:close/>
                  <a:moveTo>
                    <a:pt x="22266" y="30738"/>
                  </a:moveTo>
                  <a:lnTo>
                    <a:pt x="22266" y="30738"/>
                  </a:lnTo>
                  <a:cubicBezTo>
                    <a:pt x="23645" y="30738"/>
                    <a:pt x="23645" y="30738"/>
                    <a:pt x="25024" y="30738"/>
                  </a:cubicBezTo>
                  <a:cubicBezTo>
                    <a:pt x="45911" y="40591"/>
                    <a:pt x="45911" y="40591"/>
                    <a:pt x="45911" y="40591"/>
                  </a:cubicBezTo>
                  <a:cubicBezTo>
                    <a:pt x="47290" y="40591"/>
                    <a:pt x="48669" y="43349"/>
                    <a:pt x="48669" y="44729"/>
                  </a:cubicBezTo>
                  <a:cubicBezTo>
                    <a:pt x="48669" y="48866"/>
                    <a:pt x="45911" y="50246"/>
                    <a:pt x="43152" y="50246"/>
                  </a:cubicBezTo>
                  <a:cubicBezTo>
                    <a:pt x="41773" y="50246"/>
                    <a:pt x="41773" y="50246"/>
                    <a:pt x="40394" y="50246"/>
                  </a:cubicBezTo>
                  <a:cubicBezTo>
                    <a:pt x="20886" y="40591"/>
                    <a:pt x="20886" y="40591"/>
                    <a:pt x="20886" y="40591"/>
                  </a:cubicBezTo>
                  <a:cubicBezTo>
                    <a:pt x="18128" y="40591"/>
                    <a:pt x="16748" y="37635"/>
                    <a:pt x="16748" y="36256"/>
                  </a:cubicBezTo>
                  <a:cubicBezTo>
                    <a:pt x="16748" y="32118"/>
                    <a:pt x="19507" y="30738"/>
                    <a:pt x="22266" y="30738"/>
                  </a:cubicBezTo>
                  <a:close/>
                  <a:moveTo>
                    <a:pt x="22266" y="50246"/>
                  </a:moveTo>
                  <a:lnTo>
                    <a:pt x="22266" y="50246"/>
                  </a:lnTo>
                  <a:cubicBezTo>
                    <a:pt x="23645" y="50246"/>
                    <a:pt x="23645" y="50246"/>
                    <a:pt x="25024" y="51625"/>
                  </a:cubicBezTo>
                  <a:cubicBezTo>
                    <a:pt x="45911" y="59901"/>
                    <a:pt x="45911" y="59901"/>
                    <a:pt x="45911" y="59901"/>
                  </a:cubicBezTo>
                  <a:cubicBezTo>
                    <a:pt x="47290" y="61280"/>
                    <a:pt x="48669" y="62857"/>
                    <a:pt x="48669" y="65615"/>
                  </a:cubicBezTo>
                  <a:cubicBezTo>
                    <a:pt x="48669" y="68374"/>
                    <a:pt x="45911" y="71133"/>
                    <a:pt x="43152" y="71133"/>
                  </a:cubicBezTo>
                  <a:cubicBezTo>
                    <a:pt x="41773" y="71133"/>
                    <a:pt x="41773" y="71133"/>
                    <a:pt x="40394" y="71133"/>
                  </a:cubicBezTo>
                  <a:cubicBezTo>
                    <a:pt x="20886" y="61280"/>
                    <a:pt x="20886" y="61280"/>
                    <a:pt x="20886" y="61280"/>
                  </a:cubicBezTo>
                  <a:cubicBezTo>
                    <a:pt x="18128" y="59901"/>
                    <a:pt x="16748" y="58522"/>
                    <a:pt x="16748" y="55763"/>
                  </a:cubicBezTo>
                  <a:cubicBezTo>
                    <a:pt x="16748" y="53004"/>
                    <a:pt x="19507" y="50246"/>
                    <a:pt x="22266" y="50246"/>
                  </a:cubicBezTo>
                  <a:close/>
                  <a:moveTo>
                    <a:pt x="22266" y="71133"/>
                  </a:moveTo>
                  <a:lnTo>
                    <a:pt x="22266" y="71133"/>
                  </a:lnTo>
                  <a:cubicBezTo>
                    <a:pt x="23645" y="71133"/>
                    <a:pt x="23645" y="71133"/>
                    <a:pt x="25024" y="71133"/>
                  </a:cubicBezTo>
                  <a:cubicBezTo>
                    <a:pt x="45911" y="80788"/>
                    <a:pt x="45911" y="80788"/>
                    <a:pt x="45911" y="80788"/>
                  </a:cubicBezTo>
                  <a:cubicBezTo>
                    <a:pt x="47290" y="82167"/>
                    <a:pt x="48669" y="83743"/>
                    <a:pt x="48669" y="86502"/>
                  </a:cubicBezTo>
                  <a:cubicBezTo>
                    <a:pt x="48669" y="89261"/>
                    <a:pt x="45911" y="92019"/>
                    <a:pt x="43152" y="92019"/>
                  </a:cubicBezTo>
                  <a:cubicBezTo>
                    <a:pt x="41773" y="92019"/>
                    <a:pt x="41773" y="92019"/>
                    <a:pt x="40394" y="90640"/>
                  </a:cubicBezTo>
                  <a:cubicBezTo>
                    <a:pt x="20886" y="82167"/>
                    <a:pt x="20886" y="82167"/>
                    <a:pt x="20886" y="82167"/>
                  </a:cubicBezTo>
                  <a:cubicBezTo>
                    <a:pt x="18128" y="80788"/>
                    <a:pt x="16748" y="79408"/>
                    <a:pt x="16748" y="76650"/>
                  </a:cubicBezTo>
                  <a:cubicBezTo>
                    <a:pt x="16748" y="73891"/>
                    <a:pt x="19507" y="71133"/>
                    <a:pt x="22266" y="71133"/>
                  </a:cubicBezTo>
                  <a:close/>
                </a:path>
              </a:pathLst>
            </a:custGeom>
            <a:solidFill>
              <a:srgbClr val="9C133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2525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41" name="Google Shape;141;p32"/>
            <p:cNvSpPr/>
            <p:nvPr/>
          </p:nvSpPr>
          <p:spPr>
            <a:xfrm>
              <a:off x="5957163" y="7957438"/>
              <a:ext cx="639600" cy="633900"/>
            </a:xfrm>
            <a:custGeom>
              <a:rect b="b" l="l" r="r" t="t"/>
              <a:pathLst>
                <a:path extrusionOk="0" h="120000" w="120000">
                  <a:moveTo>
                    <a:pt x="109640" y="58417"/>
                  </a:moveTo>
                  <a:lnTo>
                    <a:pt x="109640" y="58417"/>
                  </a:lnTo>
                  <a:cubicBezTo>
                    <a:pt x="109640" y="50935"/>
                    <a:pt x="114820" y="45755"/>
                    <a:pt x="119712" y="40575"/>
                  </a:cubicBezTo>
                  <a:cubicBezTo>
                    <a:pt x="119712" y="37985"/>
                    <a:pt x="117410" y="33093"/>
                    <a:pt x="117410" y="30503"/>
                  </a:cubicBezTo>
                  <a:cubicBezTo>
                    <a:pt x="107050" y="33093"/>
                    <a:pt x="101870" y="27913"/>
                    <a:pt x="96978" y="22733"/>
                  </a:cubicBezTo>
                  <a:cubicBezTo>
                    <a:pt x="91798" y="17841"/>
                    <a:pt x="89208" y="12661"/>
                    <a:pt x="91798" y="4892"/>
                  </a:cubicBezTo>
                  <a:cubicBezTo>
                    <a:pt x="89208" y="2589"/>
                    <a:pt x="84316" y="0"/>
                    <a:pt x="79136" y="0"/>
                  </a:cubicBezTo>
                  <a:cubicBezTo>
                    <a:pt x="76546" y="4892"/>
                    <a:pt x="69064" y="10071"/>
                    <a:pt x="61294" y="10071"/>
                  </a:cubicBezTo>
                  <a:cubicBezTo>
                    <a:pt x="53812" y="10071"/>
                    <a:pt x="46043" y="4892"/>
                    <a:pt x="43453" y="0"/>
                  </a:cubicBezTo>
                  <a:cubicBezTo>
                    <a:pt x="38273" y="0"/>
                    <a:pt x="33381" y="2589"/>
                    <a:pt x="30791" y="4892"/>
                  </a:cubicBezTo>
                  <a:cubicBezTo>
                    <a:pt x="33381" y="12661"/>
                    <a:pt x="30791" y="17841"/>
                    <a:pt x="25611" y="22733"/>
                  </a:cubicBezTo>
                  <a:cubicBezTo>
                    <a:pt x="20719" y="27913"/>
                    <a:pt x="12661" y="33093"/>
                    <a:pt x="5179" y="30503"/>
                  </a:cubicBezTo>
                  <a:cubicBezTo>
                    <a:pt x="5179" y="33093"/>
                    <a:pt x="2589" y="37985"/>
                    <a:pt x="0" y="40575"/>
                  </a:cubicBezTo>
                  <a:cubicBezTo>
                    <a:pt x="7769" y="45755"/>
                    <a:pt x="12661" y="50935"/>
                    <a:pt x="12661" y="58417"/>
                  </a:cubicBezTo>
                  <a:cubicBezTo>
                    <a:pt x="12661" y="66187"/>
                    <a:pt x="7769" y="73669"/>
                    <a:pt x="0" y="79136"/>
                  </a:cubicBezTo>
                  <a:cubicBezTo>
                    <a:pt x="2589" y="81438"/>
                    <a:pt x="5179" y="86618"/>
                    <a:pt x="5179" y="89208"/>
                  </a:cubicBezTo>
                  <a:cubicBezTo>
                    <a:pt x="12661" y="89208"/>
                    <a:pt x="20719" y="89208"/>
                    <a:pt x="25611" y="94388"/>
                  </a:cubicBezTo>
                  <a:cubicBezTo>
                    <a:pt x="30791" y="99280"/>
                    <a:pt x="33381" y="107050"/>
                    <a:pt x="30791" y="114532"/>
                  </a:cubicBezTo>
                  <a:cubicBezTo>
                    <a:pt x="33381" y="117122"/>
                    <a:pt x="38273" y="117122"/>
                    <a:pt x="43453" y="119712"/>
                  </a:cubicBezTo>
                  <a:cubicBezTo>
                    <a:pt x="46043" y="111942"/>
                    <a:pt x="53812" y="107050"/>
                    <a:pt x="61294" y="107050"/>
                  </a:cubicBezTo>
                  <a:cubicBezTo>
                    <a:pt x="69064" y="107050"/>
                    <a:pt x="76546" y="111942"/>
                    <a:pt x="79136" y="119712"/>
                  </a:cubicBezTo>
                  <a:cubicBezTo>
                    <a:pt x="84316" y="117122"/>
                    <a:pt x="89208" y="117122"/>
                    <a:pt x="91798" y="114532"/>
                  </a:cubicBezTo>
                  <a:cubicBezTo>
                    <a:pt x="89208" y="107050"/>
                    <a:pt x="91798" y="99280"/>
                    <a:pt x="96978" y="94388"/>
                  </a:cubicBezTo>
                  <a:cubicBezTo>
                    <a:pt x="101870" y="89208"/>
                    <a:pt x="107050" y="86618"/>
                    <a:pt x="117410" y="89208"/>
                  </a:cubicBezTo>
                  <a:cubicBezTo>
                    <a:pt x="117410" y="84028"/>
                    <a:pt x="119712" y="81438"/>
                    <a:pt x="119712" y="76258"/>
                  </a:cubicBezTo>
                  <a:cubicBezTo>
                    <a:pt x="114820" y="73669"/>
                    <a:pt x="109640" y="66187"/>
                    <a:pt x="109640" y="58417"/>
                  </a:cubicBezTo>
                  <a:close/>
                  <a:moveTo>
                    <a:pt x="61294" y="84028"/>
                  </a:moveTo>
                  <a:lnTo>
                    <a:pt x="61294" y="84028"/>
                  </a:lnTo>
                  <a:cubicBezTo>
                    <a:pt x="46043" y="84028"/>
                    <a:pt x="35971" y="73669"/>
                    <a:pt x="35971" y="58417"/>
                  </a:cubicBezTo>
                  <a:cubicBezTo>
                    <a:pt x="35971" y="45755"/>
                    <a:pt x="46043" y="33093"/>
                    <a:pt x="61294" y="33093"/>
                  </a:cubicBezTo>
                  <a:cubicBezTo>
                    <a:pt x="76546" y="33093"/>
                    <a:pt x="86618" y="45755"/>
                    <a:pt x="86618" y="58417"/>
                  </a:cubicBezTo>
                  <a:cubicBezTo>
                    <a:pt x="86618" y="73669"/>
                    <a:pt x="76546" y="84028"/>
                    <a:pt x="61294" y="840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850" lIns="25700" spcFirstLastPara="1" rIns="25700" wrap="square" tIns="1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2525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42" name="Google Shape;142;p32"/>
            <p:cNvSpPr/>
            <p:nvPr/>
          </p:nvSpPr>
          <p:spPr>
            <a:xfrm>
              <a:off x="12002223" y="8006395"/>
              <a:ext cx="517200" cy="441600"/>
            </a:xfrm>
            <a:custGeom>
              <a:rect b="b" l="l" r="r" t="t"/>
              <a:pathLst>
                <a:path extrusionOk="0" h="120000" w="120000">
                  <a:moveTo>
                    <a:pt x="114019" y="119767"/>
                  </a:moveTo>
                  <a:lnTo>
                    <a:pt x="114019" y="119767"/>
                  </a:lnTo>
                  <a:cubicBezTo>
                    <a:pt x="5581" y="119767"/>
                    <a:pt x="5581" y="119767"/>
                    <a:pt x="5581" y="119767"/>
                  </a:cubicBezTo>
                  <a:cubicBezTo>
                    <a:pt x="2790" y="119767"/>
                    <a:pt x="0" y="116518"/>
                    <a:pt x="0" y="113036"/>
                  </a:cubicBezTo>
                  <a:cubicBezTo>
                    <a:pt x="0" y="72185"/>
                    <a:pt x="0" y="72185"/>
                    <a:pt x="0" y="72185"/>
                  </a:cubicBezTo>
                  <a:cubicBezTo>
                    <a:pt x="0" y="70560"/>
                    <a:pt x="0" y="70560"/>
                    <a:pt x="0" y="68704"/>
                  </a:cubicBezTo>
                  <a:cubicBezTo>
                    <a:pt x="15548" y="22978"/>
                    <a:pt x="15548" y="22978"/>
                    <a:pt x="15548" y="22978"/>
                  </a:cubicBezTo>
                  <a:cubicBezTo>
                    <a:pt x="15548" y="21353"/>
                    <a:pt x="18338" y="19729"/>
                    <a:pt x="21129" y="19729"/>
                  </a:cubicBezTo>
                  <a:cubicBezTo>
                    <a:pt x="29501" y="19729"/>
                    <a:pt x="29501" y="19729"/>
                    <a:pt x="29501" y="19729"/>
                  </a:cubicBezTo>
                  <a:cubicBezTo>
                    <a:pt x="35083" y="19729"/>
                    <a:pt x="35083" y="19729"/>
                    <a:pt x="35083" y="19729"/>
                  </a:cubicBezTo>
                  <a:lnTo>
                    <a:pt x="35083" y="21353"/>
                  </a:lnTo>
                  <a:cubicBezTo>
                    <a:pt x="35083" y="26228"/>
                    <a:pt x="38073" y="29477"/>
                    <a:pt x="40863" y="32727"/>
                  </a:cubicBezTo>
                  <a:cubicBezTo>
                    <a:pt x="29501" y="32727"/>
                    <a:pt x="29501" y="32727"/>
                    <a:pt x="29501" y="32727"/>
                  </a:cubicBezTo>
                  <a:cubicBezTo>
                    <a:pt x="23920" y="32727"/>
                    <a:pt x="23920" y="32727"/>
                    <a:pt x="23920" y="32727"/>
                  </a:cubicBezTo>
                  <a:cubicBezTo>
                    <a:pt x="14152" y="65454"/>
                    <a:pt x="14152" y="65454"/>
                    <a:pt x="14152" y="65454"/>
                  </a:cubicBezTo>
                  <a:cubicBezTo>
                    <a:pt x="28106" y="65454"/>
                    <a:pt x="28106" y="65454"/>
                    <a:pt x="28106" y="65454"/>
                  </a:cubicBezTo>
                  <a:cubicBezTo>
                    <a:pt x="32292" y="65454"/>
                    <a:pt x="32292" y="65454"/>
                    <a:pt x="32292" y="65454"/>
                  </a:cubicBezTo>
                  <a:cubicBezTo>
                    <a:pt x="35083" y="65454"/>
                    <a:pt x="38073" y="67079"/>
                    <a:pt x="38073" y="72185"/>
                  </a:cubicBezTo>
                  <a:cubicBezTo>
                    <a:pt x="38073" y="78684"/>
                    <a:pt x="38073" y="78684"/>
                    <a:pt x="38073" y="78684"/>
                  </a:cubicBezTo>
                  <a:cubicBezTo>
                    <a:pt x="83122" y="78684"/>
                    <a:pt x="83122" y="78684"/>
                    <a:pt x="83122" y="78684"/>
                  </a:cubicBezTo>
                  <a:cubicBezTo>
                    <a:pt x="83122" y="72185"/>
                    <a:pt x="83122" y="72185"/>
                    <a:pt x="83122" y="72185"/>
                  </a:cubicBezTo>
                  <a:cubicBezTo>
                    <a:pt x="83122" y="67079"/>
                    <a:pt x="84518" y="65454"/>
                    <a:pt x="88704" y="65454"/>
                  </a:cubicBezTo>
                  <a:cubicBezTo>
                    <a:pt x="94285" y="65454"/>
                    <a:pt x="94285" y="65454"/>
                    <a:pt x="94285" y="65454"/>
                  </a:cubicBezTo>
                  <a:cubicBezTo>
                    <a:pt x="107043" y="65454"/>
                    <a:pt x="107043" y="65454"/>
                    <a:pt x="107043" y="65454"/>
                  </a:cubicBezTo>
                  <a:cubicBezTo>
                    <a:pt x="95681" y="32727"/>
                    <a:pt x="95681" y="32727"/>
                    <a:pt x="95681" y="32727"/>
                  </a:cubicBezTo>
                  <a:cubicBezTo>
                    <a:pt x="90099" y="32727"/>
                    <a:pt x="90099" y="32727"/>
                    <a:pt x="90099" y="32727"/>
                  </a:cubicBezTo>
                  <a:cubicBezTo>
                    <a:pt x="78936" y="32727"/>
                    <a:pt x="78936" y="32727"/>
                    <a:pt x="78936" y="32727"/>
                  </a:cubicBezTo>
                  <a:cubicBezTo>
                    <a:pt x="83122" y="29477"/>
                    <a:pt x="84518" y="26228"/>
                    <a:pt x="84518" y="21353"/>
                  </a:cubicBezTo>
                  <a:lnTo>
                    <a:pt x="84518" y="19729"/>
                  </a:lnTo>
                  <a:cubicBezTo>
                    <a:pt x="90099" y="19729"/>
                    <a:pt x="90099" y="19729"/>
                    <a:pt x="90099" y="19729"/>
                  </a:cubicBezTo>
                  <a:cubicBezTo>
                    <a:pt x="100066" y="19729"/>
                    <a:pt x="100066" y="19729"/>
                    <a:pt x="100066" y="19729"/>
                  </a:cubicBezTo>
                  <a:cubicBezTo>
                    <a:pt x="101461" y="19729"/>
                    <a:pt x="104252" y="21353"/>
                    <a:pt x="104252" y="22978"/>
                  </a:cubicBezTo>
                  <a:cubicBezTo>
                    <a:pt x="119800" y="68704"/>
                    <a:pt x="119800" y="68704"/>
                    <a:pt x="119800" y="68704"/>
                  </a:cubicBezTo>
                  <a:cubicBezTo>
                    <a:pt x="119800" y="70560"/>
                    <a:pt x="119800" y="70560"/>
                    <a:pt x="119800" y="72185"/>
                  </a:cubicBezTo>
                  <a:cubicBezTo>
                    <a:pt x="119800" y="113036"/>
                    <a:pt x="119800" y="113036"/>
                    <a:pt x="119800" y="113036"/>
                  </a:cubicBezTo>
                  <a:cubicBezTo>
                    <a:pt x="119800" y="116518"/>
                    <a:pt x="118405" y="119767"/>
                    <a:pt x="114019" y="119767"/>
                  </a:cubicBezTo>
                  <a:close/>
                  <a:moveTo>
                    <a:pt x="73156" y="27852"/>
                  </a:moveTo>
                  <a:lnTo>
                    <a:pt x="73156" y="27852"/>
                  </a:lnTo>
                  <a:cubicBezTo>
                    <a:pt x="71760" y="27852"/>
                    <a:pt x="70365" y="27852"/>
                    <a:pt x="68970" y="26228"/>
                  </a:cubicBezTo>
                  <a:cubicBezTo>
                    <a:pt x="66179" y="21353"/>
                    <a:pt x="66179" y="21353"/>
                    <a:pt x="66179" y="21353"/>
                  </a:cubicBezTo>
                  <a:cubicBezTo>
                    <a:pt x="66179" y="47582"/>
                    <a:pt x="66179" y="47582"/>
                    <a:pt x="66179" y="47582"/>
                  </a:cubicBezTo>
                  <a:cubicBezTo>
                    <a:pt x="66179" y="62205"/>
                    <a:pt x="66179" y="62205"/>
                    <a:pt x="66179" y="62205"/>
                  </a:cubicBezTo>
                  <a:cubicBezTo>
                    <a:pt x="66179" y="67079"/>
                    <a:pt x="63388" y="68704"/>
                    <a:pt x="60598" y="68704"/>
                  </a:cubicBezTo>
                  <a:cubicBezTo>
                    <a:pt x="56411" y="68704"/>
                    <a:pt x="55016" y="67079"/>
                    <a:pt x="55016" y="62205"/>
                  </a:cubicBezTo>
                  <a:cubicBezTo>
                    <a:pt x="55016" y="52456"/>
                    <a:pt x="55016" y="52456"/>
                    <a:pt x="55016" y="52456"/>
                  </a:cubicBezTo>
                  <a:cubicBezTo>
                    <a:pt x="55016" y="21353"/>
                    <a:pt x="55016" y="21353"/>
                    <a:pt x="55016" y="21353"/>
                  </a:cubicBezTo>
                  <a:cubicBezTo>
                    <a:pt x="50631" y="26228"/>
                    <a:pt x="50631" y="26228"/>
                    <a:pt x="50631" y="26228"/>
                  </a:cubicBezTo>
                  <a:cubicBezTo>
                    <a:pt x="49235" y="27852"/>
                    <a:pt x="47840" y="27852"/>
                    <a:pt x="46445" y="27852"/>
                  </a:cubicBezTo>
                  <a:cubicBezTo>
                    <a:pt x="43654" y="27852"/>
                    <a:pt x="40863" y="24603"/>
                    <a:pt x="40863" y="21353"/>
                  </a:cubicBezTo>
                  <a:cubicBezTo>
                    <a:pt x="40863" y="19729"/>
                    <a:pt x="42259" y="18104"/>
                    <a:pt x="43654" y="16247"/>
                  </a:cubicBezTo>
                  <a:cubicBezTo>
                    <a:pt x="56411" y="1624"/>
                    <a:pt x="56411" y="1624"/>
                    <a:pt x="56411" y="1624"/>
                  </a:cubicBezTo>
                  <a:cubicBezTo>
                    <a:pt x="57807" y="0"/>
                    <a:pt x="59202" y="0"/>
                    <a:pt x="60598" y="0"/>
                  </a:cubicBezTo>
                  <a:cubicBezTo>
                    <a:pt x="61993" y="0"/>
                    <a:pt x="63388" y="0"/>
                    <a:pt x="63388" y="1624"/>
                  </a:cubicBezTo>
                  <a:cubicBezTo>
                    <a:pt x="77541" y="16247"/>
                    <a:pt x="77541" y="16247"/>
                    <a:pt x="77541" y="16247"/>
                  </a:cubicBezTo>
                  <a:cubicBezTo>
                    <a:pt x="78936" y="18104"/>
                    <a:pt x="78936" y="19729"/>
                    <a:pt x="78936" y="21353"/>
                  </a:cubicBezTo>
                  <a:cubicBezTo>
                    <a:pt x="78936" y="24603"/>
                    <a:pt x="76146" y="27852"/>
                    <a:pt x="73156" y="278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2525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143" name="Google Shape;143;p32"/>
          <p:cNvSpPr txBox="1"/>
          <p:nvPr/>
        </p:nvSpPr>
        <p:spPr>
          <a:xfrm>
            <a:off x="118825" y="9856550"/>
            <a:ext cx="11201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 spd="slow" p14:dur="2500">
        <p14:flip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>
            <p:ph type="title"/>
          </p:nvPr>
        </p:nvSpPr>
        <p:spPr>
          <a:xfrm>
            <a:off x="886200" y="498775"/>
            <a:ext cx="16515600" cy="1338900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REVIEW: </a:t>
            </a:r>
            <a:r>
              <a:rPr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oogle Analytics dashboard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200" y="2586325"/>
            <a:ext cx="4914900" cy="5105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33"/>
          <p:cNvSpPr txBox="1"/>
          <p:nvPr/>
        </p:nvSpPr>
        <p:spPr>
          <a:xfrm>
            <a:off x="6436325" y="2218800"/>
            <a:ext cx="10844400" cy="7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Please log into </a:t>
            </a:r>
            <a:r>
              <a:rPr lang="en-US" sz="25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your own free Google Account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then click on this link to access the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Google Demo Account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use for this playbook, then select the 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Google Analytics 4 Google Merch Store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link.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HOME -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default landing page provides a snapshot of key metrics and trends. Think of it as your GA4 dashboard. 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REPORTS -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Here you’ll find 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pre-built reports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 various aspects of user behavior and website/app performance.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EXPLORE -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Free-form exploration by creating ad-hoc, 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customizable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reports with drag and drop tools for 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advanced techniques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deeper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dimensions and metrics.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ADVERTISING - 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Understand how different marketing channels contribute to conversions and find your top 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attribution channels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33"/>
          <p:cNvSpPr txBox="1"/>
          <p:nvPr/>
        </p:nvSpPr>
        <p:spPr>
          <a:xfrm>
            <a:off x="118825" y="9856550"/>
            <a:ext cx="11201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type="title"/>
          </p:nvPr>
        </p:nvSpPr>
        <p:spPr>
          <a:xfrm>
            <a:off x="886200" y="498775"/>
            <a:ext cx="16515600" cy="1338900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REVIEW: </a:t>
            </a:r>
            <a:r>
              <a:rPr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Categories for data 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34"/>
          <p:cNvSpPr txBox="1"/>
          <p:nvPr/>
        </p:nvSpPr>
        <p:spPr>
          <a:xfrm>
            <a:off x="5036950" y="2139225"/>
            <a:ext cx="12971100" cy="6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Drilling deeper into those sections, you’ll find the following categories for data: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Acquisition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How did we 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acquire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users?  How did users find and arrive at our website or app?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Engagement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What actions did users take, and how did they interact with our content?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Monetization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Did users generate revenue, and how much value did they bring through purchases or other conversions?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Retention</a:t>
            </a: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often do users return to our website or app over time?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attributes -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Who are our users, and what are their demographic characteristics and interests?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Tech - </a:t>
            </a:r>
            <a:r>
              <a:rPr lang="en-US" sz="2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devices, browsers, and technology are our users utilizing to access our content?</a:t>
            </a:r>
            <a:endParaRPr sz="2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0" name="Google Shape;16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600" y="2890150"/>
            <a:ext cx="3981450" cy="5600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34"/>
          <p:cNvSpPr txBox="1"/>
          <p:nvPr/>
        </p:nvSpPr>
        <p:spPr>
          <a:xfrm>
            <a:off x="118825" y="9856550"/>
            <a:ext cx="11201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type="title"/>
          </p:nvPr>
        </p:nvSpPr>
        <p:spPr>
          <a:xfrm>
            <a:off x="886200" y="498775"/>
            <a:ext cx="16515600" cy="1338900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REVIEW: </a:t>
            </a:r>
            <a:r>
              <a:rPr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 Analytics analysis terms &amp; tools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68" name="Google Shape;168;p35"/>
          <p:cNvGraphicFramePr/>
          <p:nvPr/>
        </p:nvGraphicFramePr>
        <p:xfrm>
          <a:off x="886200" y="221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{0E75A181-BF2C-48E7-B9AD-BA316F58147E}</a:tableStyleId>
              </a:tblPr>
              <a:tblGrid>
                <a:gridCol w="2356225"/>
                <a:gridCol w="14226250"/>
              </a:tblGrid>
              <a:tr h="82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Option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Usage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31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Filters</a:t>
                      </a:r>
                      <a:endParaRPr b="1"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Basic reporting: Quickly refine data within a specific report based on </a:t>
                      </a:r>
                      <a:r>
                        <a:rPr lang="en-US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predefined</a:t>
                      </a:r>
                      <a:r>
                        <a:rPr lang="en-US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criteria.</a:t>
                      </a:r>
                      <a:endParaRPr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78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Dimensions</a:t>
                      </a:r>
                      <a:endParaRPr b="1"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Basic reporting: Choose how data is presented and analyzed by selecting different attributes.</a:t>
                      </a:r>
                      <a:endParaRPr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76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Secondary dimensions: </a:t>
                      </a:r>
                      <a:endParaRPr b="1" sz="2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Advanced reporting: Add another layer of analysis to your reports.</a:t>
                      </a:r>
                      <a:endParaRPr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974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Segments</a:t>
                      </a:r>
                      <a:endParaRPr b="1" sz="2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Advanced reporting: 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Create custom groupings of users or events for more in-depth analysis across multiple reports.</a:t>
                      </a:r>
                      <a:endParaRPr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00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Comparison</a:t>
                      </a:r>
                      <a:endParaRPr sz="2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Compare different user segments side-by-side to identify patterns, trends, and areas for improvement.</a:t>
                      </a:r>
                      <a:endParaRPr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6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Stream</a:t>
                      </a:r>
                      <a:endParaRPr b="1" sz="2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Lives within a property and is a source of data from your app or website.</a:t>
                      </a:r>
                      <a:endParaRPr sz="2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274300" marL="27430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69" name="Google Shape;169;p35"/>
          <p:cNvSpPr txBox="1"/>
          <p:nvPr/>
        </p:nvSpPr>
        <p:spPr>
          <a:xfrm>
            <a:off x="118825" y="9856550"/>
            <a:ext cx="11201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>
            <p:ph type="title"/>
          </p:nvPr>
        </p:nvSpPr>
        <p:spPr>
          <a:xfrm>
            <a:off x="932100" y="516125"/>
            <a:ext cx="17355900" cy="13671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COMPLETE: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Let’s find data for acquisition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76" name="Google Shape;176;p36"/>
          <p:cNvGraphicFramePr/>
          <p:nvPr/>
        </p:nvGraphicFramePr>
        <p:xfrm>
          <a:off x="991438" y="373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{0E75A181-BF2C-48E7-B9AD-BA316F58147E}</a:tableStyleId>
              </a:tblPr>
              <a:tblGrid>
                <a:gridCol w="8152550"/>
                <a:gridCol w="8152550"/>
              </a:tblGrid>
              <a:tr h="63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QUESTION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RESPONSE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274300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</a:tr>
              <a:tr h="128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</a:t>
                      </a:r>
                      <a:r>
                        <a:rPr b="1"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 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would you access and what are the </a:t>
                      </a:r>
                      <a:r>
                        <a:rPr b="1"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two steps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you would take to find the traffic channel that 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acquired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the most users?</a:t>
                      </a:r>
                      <a:endParaRPr sz="1800" strike="sng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Report: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Life Cycle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steps: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I would go to ‘Aquisition” and then click “User Aquisition”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Scroll down to the chart and see the channel with the most “total users”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67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would you access and what are the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last two steps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you would take to find out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how much traffic comes from referrals?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Report: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Life Cycle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steps: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 “Life Cycle” then “Traffic Aquisition”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Look at the “referral” section on the chart.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751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Within the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 report above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what are the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three steps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you would take to compare how traffic sources changed between two months?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steps: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Select “Month” on the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drop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down and compare the data from July to August.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36"/>
          <p:cNvSpPr txBox="1"/>
          <p:nvPr/>
        </p:nvSpPr>
        <p:spPr>
          <a:xfrm>
            <a:off x="932100" y="1883225"/>
            <a:ext cx="16423800" cy="13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 to deep dive into channels and sources to find out how you acquired your users. Reference the </a:t>
            </a:r>
            <a:r>
              <a:rPr lang="en-US" sz="22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Google Analytics 4 (GA4) Demo Account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completing this assignment.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each of the questions below, your goal is to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name the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report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the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steps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you would take to locate the data.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36"/>
          <p:cNvSpPr txBox="1"/>
          <p:nvPr/>
        </p:nvSpPr>
        <p:spPr>
          <a:xfrm>
            <a:off x="118825" y="9856550"/>
            <a:ext cx="11201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title"/>
          </p:nvPr>
        </p:nvSpPr>
        <p:spPr>
          <a:xfrm>
            <a:off x="855900" y="619800"/>
            <a:ext cx="19704000" cy="1113900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COMPLETE: </a:t>
            </a:r>
            <a:r>
              <a:rPr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Let’s find data for engagement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85" name="Google Shape;185;p37"/>
          <p:cNvGraphicFramePr/>
          <p:nvPr/>
        </p:nvGraphicFramePr>
        <p:xfrm>
          <a:off x="1020584" y="34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{0E75A181-BF2C-48E7-B9AD-BA316F58147E}</a:tableStyleId>
              </a:tblPr>
              <a:tblGrid>
                <a:gridCol w="7743175"/>
                <a:gridCol w="8744525"/>
              </a:tblGrid>
              <a:tr h="61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QUESTION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RESPONSE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</a:tr>
              <a:tr h="151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</a:t>
                      </a:r>
                      <a:r>
                        <a:rPr b="1"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would you access and what are the </a:t>
                      </a:r>
                      <a:r>
                        <a:rPr b="1"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two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b="1"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steps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you would take to find which pages are viewed the most?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Report: Engagement - Overview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steps: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Go to “engagemet”, then “engagement overview”, scroll down to “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highlight>
                            <a:srgbClr val="FFFFFF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Views by Page title and screen class” and see which page is at the top of the chart for views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566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Within the same report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as above, what are the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three steps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you would take to check the average engagement time for mobile users on the home page?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steps: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Go to “engagemet”, then “engagement overview”, view the “Average online active user engagement time”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535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</a:t>
                      </a:r>
                      <a:r>
                        <a:rPr b="1"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report 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would you access and what </a:t>
                      </a:r>
                      <a:r>
                        <a:rPr b="1"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final step 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would you take </a:t>
                      </a: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identify the event with the highest number of occurrences in a given time frame?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Engagement - Events 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Final step: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Go to “engagemet”, then click “events.” Scroll down to the “event count” section on the chart and see the event name that is at the top of the chart.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37"/>
          <p:cNvSpPr txBox="1"/>
          <p:nvPr/>
        </p:nvSpPr>
        <p:spPr>
          <a:xfrm>
            <a:off x="924425" y="1854088"/>
            <a:ext cx="16680000" cy="1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Poppins"/>
                <a:ea typeface="Poppins"/>
                <a:cs typeface="Poppins"/>
                <a:sym typeface="Poppins"/>
              </a:rPr>
              <a:t>Next up</a:t>
            </a:r>
            <a:r>
              <a:rPr lang="en-US" sz="2200">
                <a:latin typeface="Poppins"/>
                <a:ea typeface="Poppins"/>
                <a:cs typeface="Poppins"/>
                <a:sym typeface="Poppins"/>
              </a:rPr>
              <a:t>, explore how to locate data in GA4 that reflects user behavior — such as top content, and key engagement trends.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each of the questions below, your goal is to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name the report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the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steps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you would take to locate the data.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37"/>
          <p:cNvSpPr txBox="1"/>
          <p:nvPr/>
        </p:nvSpPr>
        <p:spPr>
          <a:xfrm>
            <a:off x="118825" y="9856550"/>
            <a:ext cx="11201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type="title"/>
          </p:nvPr>
        </p:nvSpPr>
        <p:spPr>
          <a:xfrm>
            <a:off x="866075" y="643275"/>
            <a:ext cx="20072400" cy="11139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COMPLETE: </a:t>
            </a:r>
            <a:r>
              <a:rPr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Let’s find data for monetization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94" name="Google Shape;194;p38"/>
          <p:cNvGraphicFramePr/>
          <p:nvPr/>
        </p:nvGraphicFramePr>
        <p:xfrm>
          <a:off x="951488" y="379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{0E75A181-BF2C-48E7-B9AD-BA316F58147E}</a:tableStyleId>
              </a:tblPr>
              <a:tblGrid>
                <a:gridCol w="8316800"/>
                <a:gridCol w="8197350"/>
              </a:tblGrid>
              <a:tr h="70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QUESTION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RESPONSE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</a:tr>
              <a:tr h="1724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would you access and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section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would you view on the report to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find the total revenue generated from ecommerce purchases?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Report: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Monetization - Ecommerce Purchases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Item Revenue </a:t>
                      </a:r>
                      <a:endParaRPr b="1"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15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Within the same report as above, what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would you view on the report to find how many users made a purchase?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Purchase Journey - 5. Purchase (User Count)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38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Continuing in the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 report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what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would you view on the report to find the average revenue generated per purchasing user?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Monetization - Overview - Average purchase revenue per active user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95" name="Google Shape;195;p38"/>
          <p:cNvSpPr txBox="1"/>
          <p:nvPr/>
        </p:nvSpPr>
        <p:spPr>
          <a:xfrm>
            <a:off x="886825" y="2041850"/>
            <a:ext cx="16708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applicable,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you can use the monetization reports in GA4 to explore where you can find insights about transactions, revenue, and product performance.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each of the questions below, your goal is to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name the report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would access and identify the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section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would view on that report to locate the data.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38"/>
          <p:cNvSpPr txBox="1"/>
          <p:nvPr/>
        </p:nvSpPr>
        <p:spPr>
          <a:xfrm>
            <a:off x="118825" y="9856550"/>
            <a:ext cx="11201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876300" y="625825"/>
            <a:ext cx="19819200" cy="11139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COMPLETE: </a:t>
            </a:r>
            <a:r>
              <a:rPr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Let’s find data for demographics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03" name="Google Shape;203;p39"/>
          <p:cNvGraphicFramePr/>
          <p:nvPr/>
        </p:nvGraphicFramePr>
        <p:xfrm>
          <a:off x="932100" y="374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{0E75A181-BF2C-48E7-B9AD-BA316F58147E}</a:tableStyleId>
              </a:tblPr>
              <a:tblGrid>
                <a:gridCol w="7834775"/>
                <a:gridCol w="8679675"/>
              </a:tblGrid>
              <a:tr h="5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QUESTION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RESPONSE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</a:tr>
              <a:tr h="130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would you access and what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of the report would you view to find the percentage of users who are female?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Report: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User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User Attributes - Overview - Active users by gender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Within the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same report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as above, what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 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would you view to find the top interests of users who use the website?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Active Users by interest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Continuing in the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same report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what </a:t>
                      </a:r>
                      <a:r>
                        <a:rPr b="1"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</a:t>
                      </a: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would you view to find the country with the highest number of users?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Section: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Active Users by country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39"/>
          <p:cNvSpPr txBox="1"/>
          <p:nvPr/>
        </p:nvSpPr>
        <p:spPr>
          <a:xfrm>
            <a:off x="932100" y="1920575"/>
            <a:ext cx="16708200" cy="13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Now it's time to learn about users: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age, gender, interests, devices, etc. These insights can help you understand who your users are and how to segment them effectively.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each of the questions below, your goal is to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name the report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would access and the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section 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would view on that report to locate the data.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39"/>
          <p:cNvSpPr txBox="1"/>
          <p:nvPr/>
        </p:nvSpPr>
        <p:spPr>
          <a:xfrm>
            <a:off x="118825" y="9856550"/>
            <a:ext cx="11201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/>
          <p:nvPr>
            <p:ph type="title"/>
          </p:nvPr>
        </p:nvSpPr>
        <p:spPr>
          <a:xfrm>
            <a:off x="932100" y="626900"/>
            <a:ext cx="16972500" cy="11139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OPTIONAL</a:t>
            </a: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GA4 certification prep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12" name="Google Shape;212;p40"/>
          <p:cNvGraphicFramePr/>
          <p:nvPr/>
        </p:nvGraphicFramePr>
        <p:xfrm>
          <a:off x="932100" y="261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{0E75A181-BF2C-48E7-B9AD-BA316F58147E}</a:tableStyleId>
              </a:tblPr>
              <a:tblGrid>
                <a:gridCol w="8571550"/>
                <a:gridCol w="8004950"/>
              </a:tblGrid>
              <a:tr h="61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QUESTION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RESPONSE</a:t>
                      </a:r>
                      <a:endParaRPr b="1" sz="200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75" marB="182875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</a:tr>
              <a:tr h="149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When you view a User Acquisition Report and a Traffic Acquisition Report, what are the key differences in the information each report will highlight for you?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User Acquisition: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Delete this text and add your answer here. 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Traffic Acquisition: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Delete this text and add your answer here. 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37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understand how many users are coming from various devices, like desktops or mobile phones, you run a report that shows this data, per device, over the past 30 days. In this report, what is device type?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Delete this text and add your answer here. 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661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You want to create new audiences for your eCommerce site by segmenting users according to parameters that make sense for your business, like those who've made a purchase. Which approach would provide you with a predictive audience?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Delete this text and add your answer here. 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37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When Google Analytics and Google Ads are linked, how can Google Ads use conversion events from Google Analytics?</a:t>
                      </a:r>
                      <a:endParaRPr sz="18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D31D4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Delete this text and add your answer here. </a:t>
                      </a:r>
                      <a:endParaRPr sz="1800">
                        <a:solidFill>
                          <a:srgbClr val="D31D4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274300" marB="274300" marR="182875" marL="1828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40"/>
          <p:cNvSpPr txBox="1"/>
          <p:nvPr/>
        </p:nvSpPr>
        <p:spPr>
          <a:xfrm>
            <a:off x="932100" y="1834300"/>
            <a:ext cx="164238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Get ready for the GA4 certification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with these realistic insight-focuses practice questions</a:t>
            </a:r>
            <a:r>
              <a:rPr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You got this!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40"/>
          <p:cNvSpPr txBox="1"/>
          <p:nvPr/>
        </p:nvSpPr>
        <p:spPr>
          <a:xfrm>
            <a:off x="118825" y="9856550"/>
            <a:ext cx="11201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Ziplines Education | Proprietary and Confidential | Do not duplicate or distribute without written permission.</a:t>
            </a:r>
            <a:endParaRPr sz="19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876300" y="571400"/>
            <a:ext cx="11215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Roboto"/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COMPLETE: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AI use in the playbook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41"/>
          <p:cNvSpPr txBox="1"/>
          <p:nvPr/>
        </p:nvSpPr>
        <p:spPr>
          <a:xfrm>
            <a:off x="994850" y="1983225"/>
            <a:ext cx="165594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 the course AI guidelines you are required to indicate where and how AI tools were used in your assignments (e.g., idea generation, drafting, proofreading, etc.). Please complete the following: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p41"/>
          <p:cNvSpPr txBox="1"/>
          <p:nvPr/>
        </p:nvSpPr>
        <p:spPr>
          <a:xfrm>
            <a:off x="27375" y="9917525"/>
            <a:ext cx="11201400" cy="13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Ziplines Education | Proprietary and Confidential | Do not duplicate or distribute without written permission.</a:t>
            </a:r>
            <a:endParaRPr sz="20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22" name="Google Shape;222;p41"/>
          <p:cNvGraphicFramePr/>
          <p:nvPr/>
        </p:nvGraphicFramePr>
        <p:xfrm>
          <a:off x="1071000" y="339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{0E75A181-BF2C-48E7-B9AD-BA316F58147E}</a:tableStyleId>
              </a:tblPr>
              <a:tblGrid>
                <a:gridCol w="6793825"/>
                <a:gridCol w="9689425"/>
              </a:tblGrid>
              <a:tr h="797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QUESTION</a:t>
                      </a:r>
                      <a:endParaRPr b="1" sz="23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50" marB="182850" marR="182850" marL="1828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ANSWER</a:t>
                      </a:r>
                      <a:endParaRPr b="1" sz="23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50" marB="182850" marR="182850" marL="1828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D46"/>
                    </a:solidFill>
                  </a:tcPr>
                </a:tc>
              </a:tr>
              <a:tr h="1402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Did you use AI when completing this assignment?</a:t>
                      </a:r>
                      <a:endParaRPr sz="2300"/>
                    </a:p>
                  </a:txBody>
                  <a:tcPr marT="182850" marB="182850" marR="182850" marL="1828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No, I did not.</a:t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50" marB="182850" marR="182850" marL="1828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62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If yes, explain how you used AI tools to assist you in completing the assignment. Include where you used it. </a:t>
                      </a:r>
                      <a:endParaRPr sz="2300"/>
                    </a:p>
                  </a:txBody>
                  <a:tcPr marT="182850" marB="182850" marR="182850" marL="1828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2850" marB="182850" marR="182850" marL="18285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/>
          <p:nvPr>
            <p:ph type="title"/>
          </p:nvPr>
        </p:nvSpPr>
        <p:spPr>
          <a:xfrm>
            <a:off x="876300" y="571400"/>
            <a:ext cx="11215500" cy="13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Roboto"/>
              <a:buNone/>
            </a:pPr>
            <a:r>
              <a:rPr lang="en-US">
                <a:solidFill>
                  <a:srgbClr val="D31D46"/>
                </a:solidFill>
                <a:latin typeface="Poppins"/>
                <a:ea typeface="Poppins"/>
                <a:cs typeface="Poppins"/>
                <a:sym typeface="Poppins"/>
              </a:rPr>
              <a:t>INSTRUCTIONS: 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SUBMIT IT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42"/>
          <p:cNvSpPr txBox="1"/>
          <p:nvPr/>
        </p:nvSpPr>
        <p:spPr>
          <a:xfrm>
            <a:off x="1092700" y="2404075"/>
            <a:ext cx="16980900" cy="6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Review 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each slide and make sure you have completed the entire assignment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 share settings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so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anyone with the link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view the document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Access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correct assignment submission page in the </a:t>
            </a:r>
            <a:r>
              <a:rPr lang="en-US" sz="3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Learning Management System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Copy/Paste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link to your assignment in the system by the due date 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Confirm</a:t>
            </a: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assignment was accepted by the Learning Management System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set share settings: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D31D46"/>
              </a:buClr>
              <a:buSzPts val="3000"/>
              <a:buFont typeface="Poppins"/>
              <a:buChar char="●"/>
            </a:pP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 “Share” in the upper right corner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D31D46"/>
              </a:buClr>
              <a:buSzPts val="3000"/>
              <a:buFont typeface="Poppins"/>
              <a:buChar char="●"/>
            </a:pP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Under “General Access”, select “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anyone with the link”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D31D46"/>
              </a:buClr>
              <a:buSzPts val="3000"/>
              <a:buFont typeface="Poppins"/>
              <a:buChar char="●"/>
            </a:pP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 “Copy” and then “Done”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D31D46"/>
              </a:buClr>
              <a:buSzPts val="3000"/>
              <a:buFont typeface="Poppins"/>
              <a:buChar char="●"/>
            </a:pPr>
            <a:r>
              <a:rPr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Paste the link in the correct assignment submission page in the LMS</a:t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5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Watch this video for a quick demo</a:t>
            </a:r>
            <a:r>
              <a:rPr lang="en-US"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NARAL LAYOUTS">
  <a:themeElements>
    <a:clrScheme name="SIMPLICITY 3.0 - monocolor #00 - default">
      <a:dk1>
        <a:srgbClr val="000000"/>
      </a:dk1>
      <a:lt1>
        <a:srgbClr val="FFFFFF"/>
      </a:lt1>
      <a:dk2>
        <a:srgbClr val="4C4C4E"/>
      </a:dk2>
      <a:lt2>
        <a:srgbClr val="F2F2F5"/>
      </a:lt2>
      <a:accent1>
        <a:srgbClr val="131314"/>
      </a:accent1>
      <a:accent2>
        <a:srgbClr val="78787C"/>
      </a:accent2>
      <a:accent3>
        <a:srgbClr val="000000"/>
      </a:accent3>
      <a:accent4>
        <a:srgbClr val="FFFFFF"/>
      </a:accent4>
      <a:accent5>
        <a:srgbClr val="000000"/>
      </a:accent5>
      <a:accent6>
        <a:srgbClr val="3D415B"/>
      </a:accent6>
      <a:hlink>
        <a:srgbClr val="4A86FF"/>
      </a:hlink>
      <a:folHlink>
        <a:srgbClr val="4A86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NARAL LAYOUTS">
  <a:themeElements>
    <a:clrScheme name="SIMPLICITY 3.0 - monocolor #00 - default">
      <a:dk1>
        <a:srgbClr val="000000"/>
      </a:dk1>
      <a:lt1>
        <a:srgbClr val="FFFFFF"/>
      </a:lt1>
      <a:dk2>
        <a:srgbClr val="4C4C4E"/>
      </a:dk2>
      <a:lt2>
        <a:srgbClr val="F2F2F5"/>
      </a:lt2>
      <a:accent1>
        <a:srgbClr val="131314"/>
      </a:accent1>
      <a:accent2>
        <a:srgbClr val="78787C"/>
      </a:accent2>
      <a:accent3>
        <a:srgbClr val="000000"/>
      </a:accent3>
      <a:accent4>
        <a:srgbClr val="FFFFFF"/>
      </a:accent4>
      <a:accent5>
        <a:srgbClr val="000000"/>
      </a:accent5>
      <a:accent6>
        <a:srgbClr val="3D415B"/>
      </a:accent6>
      <a:hlink>
        <a:srgbClr val="4A86FF"/>
      </a:hlink>
      <a:folHlink>
        <a:srgbClr val="4A86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